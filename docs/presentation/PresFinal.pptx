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70" r:id="rId9"/>
    <p:sldId id="271" r:id="rId10"/>
    <p:sldId id="272" r:id="rId11"/>
    <p:sldId id="276" r:id="rId12"/>
    <p:sldId id="269" r:id="rId13"/>
    <p:sldId id="264" r:id="rId14"/>
    <p:sldId id="277" r:id="rId15"/>
    <p:sldId id="265" r:id="rId16"/>
    <p:sldId id="266" r:id="rId17"/>
    <p:sldId id="274" r:id="rId18"/>
    <p:sldId id="275" r:id="rId19"/>
  </p:sldIdLst>
  <p:sldSz cx="9144000" cy="5143500" type="screen16x9"/>
  <p:notesSz cx="6858000" cy="9144000"/>
  <p:embeddedFontLst>
    <p:embeddedFont>
      <p:font typeface="Abel" panose="02000506030000020004" pitchFamily="2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300" y="126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050711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9813349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2837317" name="Google Shape;1092;g18a80d34a48_2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4726599" name="Google Shape;1093;g18a80d34a48_2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7130792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9567583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675004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035054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219150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4262928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5996383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7524072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6008626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3157427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135342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54315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822791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92247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894719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4066773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170605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0686923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EF374F3-8FA6-7A0C-93B7-14DA2D8CAB9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170605" name="Google Shape;1943;g152a7caf94b_1_2463:notes">
            <a:extLst>
              <a:ext uri="{FF2B5EF4-FFF2-40B4-BE49-F238E27FC236}">
                <a16:creationId xmlns:a16="http://schemas.microsoft.com/office/drawing/2014/main" id="{F95FECB7-8BE9-B576-87DC-E31998B720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0686923" name="Google Shape;1944;g152a7caf94b_1_2463:notes">
            <a:extLst>
              <a:ext uri="{FF2B5EF4-FFF2-40B4-BE49-F238E27FC236}">
                <a16:creationId xmlns:a16="http://schemas.microsoft.com/office/drawing/2014/main" id="{68E79EC7-55BD-0499-40BE-7FD1959FBCDE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0535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8111089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8725394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64228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3596231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4 cycles par morceau · 3 palettes · 24 bandes de dégradé · 0 image, que des triangles</a:t>
            </a:r>
            <a:endParaRPr lang="fr-FR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9A1C976-C22F-95DC-6ADD-9218CFDCAA5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64228" name="Google Shape;1244;g152a7caf94b_1_413:notes">
            <a:extLst>
              <a:ext uri="{FF2B5EF4-FFF2-40B4-BE49-F238E27FC236}">
                <a16:creationId xmlns:a16="http://schemas.microsoft.com/office/drawing/2014/main" id="{EA1FB6FE-9B97-FE66-393C-4C6A4F95BB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3596231" name="Google Shape;1245;g152a7caf94b_1_413:notes">
            <a:extLst>
              <a:ext uri="{FF2B5EF4-FFF2-40B4-BE49-F238E27FC236}">
                <a16:creationId xmlns:a16="http://schemas.microsoft.com/office/drawing/2014/main" id="{EDF8519C-C310-90FB-222C-0A1373CA80B6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4 cycles par morceau · 3 palettes · 24 bandes de dégradé · 0 image, que des triangles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07386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022466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7715830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- Whole visual is in triangle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Base class TriangularShape =&gt; which trangles am I made of ? (list_triangles)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Derived Shapes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Composition to move shapes =&gt; Group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430931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781979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5672469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748003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7795549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252857" name="Google Shape;2297;g152a7caf94b_1_277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slid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774376" name="Google Shape;9;p2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1894211911" name="Google Shape;10;p2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1961347443" name="Google Shape;11;p2"/>
          <p:cNvSpPr/>
          <p:nvPr/>
        </p:nvSpPr>
        <p:spPr bwMode="auto"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90540069" name="Google Shape;12;p2"/>
          <p:cNvSpPr/>
          <p:nvPr/>
        </p:nvSpPr>
        <p:spPr bwMode="auto"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5176062" name="Google Shape;14;p3"/>
          <p:cNvSpPr txBox="1">
            <a:spLocks noGrp="1"/>
          </p:cNvSpPr>
          <p:nvPr>
            <p:ph type="title"/>
          </p:nvPr>
        </p:nvSpPr>
        <p:spPr bwMode="auto"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155064770" name="Google Shape;15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713225" y="686500"/>
            <a:ext cx="1303200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884047298" name="Google Shape;16;p3"/>
          <p:cNvSpPr txBox="1">
            <a:spLocks noGrp="1"/>
          </p:cNvSpPr>
          <p:nvPr>
            <p:ph type="subTitle" idx="1"/>
          </p:nvPr>
        </p:nvSpPr>
        <p:spPr bwMode="auto"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71741066" name="Google Shape;17;p3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7368838" name="Google Shape;247;p9"/>
          <p:cNvSpPr txBox="1">
            <a:spLocks noGrp="1"/>
          </p:cNvSpPr>
          <p:nvPr>
            <p:ph type="title"/>
          </p:nvPr>
        </p:nvSpPr>
        <p:spPr bwMode="auto"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1899350554" name="Google Shape;248;p9"/>
          <p:cNvSpPr txBox="1">
            <a:spLocks noGrp="1"/>
          </p:cNvSpPr>
          <p:nvPr>
            <p:ph type="subTitle" idx="1"/>
          </p:nvPr>
        </p:nvSpPr>
        <p:spPr bwMode="auto"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1982745160" name="Google Shape;249;p9"/>
          <p:cNvSpPr/>
          <p:nvPr/>
        </p:nvSpPr>
        <p:spPr bwMode="auto"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2273245" name="Google Shape;250;p9"/>
          <p:cNvSpPr/>
          <p:nvPr/>
        </p:nvSpPr>
        <p:spPr bwMode="auto"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1881299" name="Google Shape;251;p9"/>
          <p:cNvSpPr/>
          <p:nvPr/>
        </p:nvSpPr>
        <p:spPr bwMode="auto"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01606882" name="Google Shape;252;p9"/>
          <p:cNvSpPr/>
          <p:nvPr/>
        </p:nvSpPr>
        <p:spPr bwMode="auto"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4706729" name="Google Shape;253;p9"/>
          <p:cNvSpPr/>
          <p:nvPr/>
        </p:nvSpPr>
        <p:spPr bwMode="auto">
          <a:xfrm>
            <a:off x="3559000" y="3196325"/>
            <a:ext cx="6828924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82447992" name="Google Shape;254;p9"/>
          <p:cNvSpPr/>
          <p:nvPr/>
        </p:nvSpPr>
        <p:spPr bwMode="auto"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63599878" name="Google Shape;255;p9"/>
          <p:cNvSpPr/>
          <p:nvPr/>
        </p:nvSpPr>
        <p:spPr bwMode="auto"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5199816" name="Google Shape;256;p9"/>
          <p:cNvSpPr/>
          <p:nvPr/>
        </p:nvSpPr>
        <p:spPr bwMode="auto"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545313" name="Google Shape;257;p9"/>
          <p:cNvSpPr/>
          <p:nvPr/>
        </p:nvSpPr>
        <p:spPr bwMode="auto"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4800156" name="Google Shape;258;p9"/>
          <p:cNvSpPr/>
          <p:nvPr/>
        </p:nvSpPr>
        <p:spPr bwMode="auto"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27988860" name="Google Shape;259;p9"/>
          <p:cNvSpPr/>
          <p:nvPr/>
        </p:nvSpPr>
        <p:spPr bwMode="auto"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8754205" name="Google Shape;260;p9"/>
          <p:cNvSpPr/>
          <p:nvPr/>
        </p:nvSpPr>
        <p:spPr bwMode="auto"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57682888" name="Google Shape;261;p9"/>
          <p:cNvSpPr/>
          <p:nvPr/>
        </p:nvSpPr>
        <p:spPr bwMode="auto">
          <a:xfrm>
            <a:off x="1582074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57730696" name="Google Shape;262;p9"/>
          <p:cNvSpPr/>
          <p:nvPr/>
        </p:nvSpPr>
        <p:spPr bwMode="auto"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58480214" name="Google Shape;263;p9"/>
          <p:cNvGrpSpPr/>
          <p:nvPr/>
        </p:nvGrpSpPr>
        <p:grpSpPr bwMode="auto"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 bwMode="auto"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 bwMode="auto"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 bwMode="auto"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 bwMode="auto"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 bwMode="auto">
                  <a:xfrm rot="5400000">
                    <a:off x="-497049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 bwMode="auto"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 bwMode="auto"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 bwMode="auto"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 bwMode="auto"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 bwMode="auto"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 bwMode="auto"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 bwMode="auto"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 bwMode="auto"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 bwMode="auto"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 bwMode="auto"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 bwMode="auto"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 bwMode="auto"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 bwMode="auto"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 bwMode="auto"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 bwMode="auto"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 bwMode="auto"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 bwMode="auto"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 bwMode="auto">
            <a:xfrm>
              <a:off x="6356774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 bwMode="auto"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 bwMode="auto"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 bwMode="auto"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 bwMode="auto"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 bwMode="auto"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 bwMode="auto"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 bwMode="auto"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 bwMode="auto"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02424363" name="Google Shape;295;p9"/>
          <p:cNvGrpSpPr/>
          <p:nvPr/>
        </p:nvGrpSpPr>
        <p:grpSpPr bwMode="auto"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 bwMode="auto"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 bwMode="auto"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 bwMode="auto"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 bwMode="auto"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 bwMode="auto"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 bwMode="auto"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 bwMode="auto"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 bwMode="auto">
            <a:xfrm>
              <a:off x="1512324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 bwMode="auto"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 bwMode="auto"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 bwMode="auto"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 bwMode="auto"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 bwMode="auto">
            <a:xfrm>
              <a:off x="2384450" y="4072199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 bwMode="auto"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 bwMode="auto"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 bwMode="auto"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 bwMode="auto"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 bwMode="auto"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 bwMode="auto"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 bwMode="auto"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 bwMode="auto"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 bwMode="auto"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 bwMode="auto"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 bwMode="auto"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 bwMode="auto"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 bwMode="auto"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 bwMode="auto">
            <a:xfrm>
              <a:off x="2911650" y="4871450"/>
              <a:ext cx="20799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 bwMode="auto"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230774464" name="Google Shape;324;p9"/>
          <p:cNvGrpSpPr/>
          <p:nvPr/>
        </p:nvGrpSpPr>
        <p:grpSpPr bwMode="auto"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237062243" name="Google Shape;344;p9"/>
          <p:cNvSpPr/>
          <p:nvPr/>
        </p:nvSpPr>
        <p:spPr bwMode="auto">
          <a:xfrm>
            <a:off x="1582074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77513031" name="Google Shape;345;p9"/>
          <p:cNvSpPr/>
          <p:nvPr/>
        </p:nvSpPr>
        <p:spPr bwMode="auto"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49054389" name="Google Shape;346;p9"/>
          <p:cNvSpPr/>
          <p:nvPr/>
        </p:nvSpPr>
        <p:spPr bwMode="auto"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 3" userDrawn="1">
  <p:cSld name="TITLE_ONLY_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312236" name="Google Shape;496;p16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71282473" name="Google Shape;497;p16"/>
          <p:cNvSpPr/>
          <p:nvPr/>
        </p:nvSpPr>
        <p:spPr bwMode="auto"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20068452" name="Google Shape;498;p16"/>
          <p:cNvSpPr/>
          <p:nvPr/>
        </p:nvSpPr>
        <p:spPr bwMode="auto"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372733" name="Google Shape;499;p16"/>
          <p:cNvSpPr/>
          <p:nvPr/>
        </p:nvSpPr>
        <p:spPr bwMode="auto"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362382687" name="Google Shape;500;p16"/>
          <p:cNvGrpSpPr/>
          <p:nvPr/>
        </p:nvGrpSpPr>
        <p:grpSpPr bwMode="auto">
          <a:xfrm>
            <a:off x="-2311315" y="4713377"/>
            <a:ext cx="11543197" cy="859072"/>
            <a:chOff x="238675" y="2497700"/>
            <a:chExt cx="7138649" cy="531275"/>
          </a:xfrm>
        </p:grpSpPr>
        <p:sp>
          <p:nvSpPr>
            <p:cNvPr id="501" name="Google Shape;501;p16"/>
            <p:cNvSpPr/>
            <p:nvPr/>
          </p:nvSpPr>
          <p:spPr bwMode="auto">
            <a:xfrm>
              <a:off x="238675" y="2497700"/>
              <a:ext cx="7138649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 bwMode="auto">
            <a:xfrm>
              <a:off x="238675" y="2565600"/>
              <a:ext cx="7138649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157503389" name="Google Shape;503;p16"/>
          <p:cNvSpPr/>
          <p:nvPr/>
        </p:nvSpPr>
        <p:spPr bwMode="auto"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155650462" name="Google Shape;504;p16"/>
          <p:cNvGrpSpPr/>
          <p:nvPr/>
        </p:nvGrpSpPr>
        <p:grpSpPr bwMode="auto">
          <a:xfrm>
            <a:off x="1058800" y="4136600"/>
            <a:ext cx="2419653" cy="571601"/>
            <a:chOff x="3962175" y="2857795"/>
            <a:chExt cx="3075700" cy="726579"/>
          </a:xfrm>
        </p:grpSpPr>
        <p:sp>
          <p:nvSpPr>
            <p:cNvPr id="505" name="Google Shape;505;p1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hanks" userDrawn="1">
  <p:cSld name="CUSTOM_12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015018" name="Google Shape;944;p24"/>
          <p:cNvSpPr txBox="1">
            <a:spLocks noGrp="1"/>
          </p:cNvSpPr>
          <p:nvPr>
            <p:ph type="subTitle" idx="1"/>
          </p:nvPr>
        </p:nvSpPr>
        <p:spPr bwMode="auto"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11036455" name="Google Shape;945;p24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02537766" name="Google Shape;946;p24"/>
          <p:cNvSpPr/>
          <p:nvPr/>
        </p:nvSpPr>
        <p:spPr bwMode="auto"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9147796" name="Google Shape;947;p24"/>
          <p:cNvSpPr txBox="1"/>
          <p:nvPr/>
        </p:nvSpPr>
        <p:spPr bwMode="auto"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CREDITS: This presentation template was created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2"/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including icons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3"/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and infographics &amp; images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4"/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CUSTOM_2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519514" name="Google Shape;949;p25"/>
          <p:cNvSpPr/>
          <p:nvPr/>
        </p:nvSpPr>
        <p:spPr bwMode="auto"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15016996" name="Google Shape;950;p25"/>
          <p:cNvSpPr/>
          <p:nvPr/>
        </p:nvSpPr>
        <p:spPr bwMode="auto"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00430171" name="Google Shape;951;p25"/>
          <p:cNvSpPr/>
          <p:nvPr/>
        </p:nvSpPr>
        <p:spPr bwMode="auto"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74045922" name="Google Shape;952;p25"/>
          <p:cNvSpPr/>
          <p:nvPr/>
        </p:nvSpPr>
        <p:spPr bwMode="auto"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135629118" name="Google Shape;953;p25"/>
          <p:cNvGrpSpPr/>
          <p:nvPr/>
        </p:nvGrpSpPr>
        <p:grpSpPr bwMode="auto">
          <a:xfrm>
            <a:off x="-139347" y="3868275"/>
            <a:ext cx="9276783" cy="1398671"/>
            <a:chOff x="-139347" y="3868275"/>
            <a:chExt cx="9276783" cy="1398671"/>
          </a:xfrm>
        </p:grpSpPr>
        <p:sp>
          <p:nvSpPr>
            <p:cNvPr id="954" name="Google Shape;954;p25"/>
            <p:cNvSpPr/>
            <p:nvPr/>
          </p:nvSpPr>
          <p:spPr bwMode="auto">
            <a:xfrm flipH="1">
              <a:off x="-139347" y="4015425"/>
              <a:ext cx="9276771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 bwMode="auto"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 bwMode="auto">
              <a:xfrm>
                <a:off x="6638024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 bwMode="auto"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 bwMode="auto"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 bwMode="auto"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 bwMode="auto"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 bwMode="auto"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 bwMode="auto"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 bwMode="auto"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 bwMode="auto"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 bwMode="auto">
              <a:xfrm>
                <a:off x="1393673" y="4141774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 bwMode="auto"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 bwMode="auto"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 bwMode="auto"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 bwMode="auto"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 bwMode="auto"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 bwMode="auto"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 bwMode="auto"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 bwMode="auto"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 bwMode="auto"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 bwMode="auto"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 bwMode="auto"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 bwMode="auto"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 bwMode="auto"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 bwMode="auto"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 bwMode="auto"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 bwMode="auto"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 bwMode="auto"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 bwMode="auto"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 bwMode="auto"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 bwMode="auto"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 bwMode="auto"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 bwMode="auto"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 bwMode="auto"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 bwMode="auto"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 bwMode="auto"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 bwMode="auto"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 bwMode="auto"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 bwMode="auto"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 bwMode="auto"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 bwMode="auto"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 bwMode="auto"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 bwMode="auto"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 bwMode="auto"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 bwMode="auto">
              <a:xfrm>
                <a:off x="8580773" y="3907949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 bwMode="auto"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 bwMode="auto"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 bwMode="auto"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 bwMode="auto"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 bwMode="auto"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 bwMode="auto"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 bwMode="auto"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 bwMode="auto"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518953254" name="Google Shape;1022;p25"/>
          <p:cNvGrpSpPr/>
          <p:nvPr/>
        </p:nvGrpSpPr>
        <p:grpSpPr bwMode="auto">
          <a:xfrm rot="127888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313551095" name="Google Shape;1042;p25"/>
          <p:cNvSpPr/>
          <p:nvPr/>
        </p:nvSpPr>
        <p:spPr bwMode="auto"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9653691" name="Google Shape;1043;p25"/>
          <p:cNvSpPr/>
          <p:nvPr/>
        </p:nvSpPr>
        <p:spPr bwMode="auto"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86583402" name="Google Shape;1044;p25"/>
          <p:cNvSpPr/>
          <p:nvPr/>
        </p:nvSpPr>
        <p:spPr bwMode="auto"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2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129304" name="Google Shape;1046;p26"/>
          <p:cNvSpPr/>
          <p:nvPr/>
        </p:nvSpPr>
        <p:spPr bwMode="auto"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28056163" name="Google Shape;1047;p26"/>
          <p:cNvSpPr/>
          <p:nvPr/>
        </p:nvSpPr>
        <p:spPr bwMode="auto"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8212619" name="Google Shape;1048;p26"/>
          <p:cNvSpPr/>
          <p:nvPr/>
        </p:nvSpPr>
        <p:spPr bwMode="auto"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71161925" name="Google Shape;1049;p26"/>
          <p:cNvSpPr/>
          <p:nvPr/>
        </p:nvSpPr>
        <p:spPr bwMode="auto"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90734224" name="Google Shape;1050;p26"/>
          <p:cNvGrpSpPr/>
          <p:nvPr/>
        </p:nvGrpSpPr>
        <p:grpSpPr bwMode="auto"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240262024" name="Google Shape;1070;p26"/>
          <p:cNvGrpSpPr/>
          <p:nvPr/>
        </p:nvGrpSpPr>
        <p:grpSpPr bwMode="auto"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549874335" name="Google Shape;1084;p26"/>
          <p:cNvSpPr/>
          <p:nvPr/>
        </p:nvSpPr>
        <p:spPr bwMode="auto"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522435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88899186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973708" name="Google Shape;1095;p30"/>
          <p:cNvSpPr/>
          <p:nvPr/>
        </p:nvSpPr>
        <p:spPr bwMode="auto"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558248" name="Google Shape;1096;p30"/>
          <p:cNvSpPr/>
          <p:nvPr/>
        </p:nvSpPr>
        <p:spPr bwMode="auto"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95134244" name="Google Shape;1097;p30"/>
          <p:cNvSpPr/>
          <p:nvPr/>
        </p:nvSpPr>
        <p:spPr bwMode="auto"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457291418" name="Google Shape;1098;p30"/>
          <p:cNvGrpSpPr/>
          <p:nvPr/>
        </p:nvGrpSpPr>
        <p:grpSpPr bwMode="auto"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668254125" name="Google Shape;1111;p30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fr-CH" sz="7200" b="1"/>
              <a:t>RailBeat</a:t>
            </a:r>
            <a:r>
              <a:rPr lang="fr-CH" sz="7200"/>
              <a:t> </a:t>
            </a:r>
            <a:endParaRPr sz="71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4500" i="1">
                <a:solidFill>
                  <a:schemeClr val="accent2"/>
                </a:solidFill>
              </a:rPr>
              <a:t>Summer School</a:t>
            </a:r>
            <a:endParaRPr sz="4500" i="1">
              <a:solidFill>
                <a:schemeClr val="accent2"/>
              </a:solidFill>
            </a:endParaRPr>
          </a:p>
        </p:txBody>
      </p:sp>
      <p:sp>
        <p:nvSpPr>
          <p:cNvPr id="287806153" name="Google Shape;1112;p30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Alan, Dina, Ravaka, Gabriel</a:t>
            </a:r>
            <a:endParaRPr/>
          </a:p>
        </p:txBody>
      </p:sp>
      <p:grpSp>
        <p:nvGrpSpPr>
          <p:cNvPr id="615829344" name="Google Shape;1113;p30"/>
          <p:cNvGrpSpPr/>
          <p:nvPr/>
        </p:nvGrpSpPr>
        <p:grpSpPr bwMode="auto"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 bwMode="auto"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 bwMode="auto"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494830007" name="Google Shape;1116;p30"/>
          <p:cNvSpPr/>
          <p:nvPr/>
        </p:nvSpPr>
        <p:spPr bwMode="auto"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05154336" name="Google Shape;1117;p30"/>
          <p:cNvGrpSpPr/>
          <p:nvPr/>
        </p:nvGrpSpPr>
        <p:grpSpPr bwMode="auto"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939258598" name="Google Shape;1137;p30"/>
          <p:cNvSpPr/>
          <p:nvPr/>
        </p:nvSpPr>
        <p:spPr bwMode="auto"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460813360" name="Google Shape;1138;p30"/>
          <p:cNvGrpSpPr/>
          <p:nvPr/>
        </p:nvGrpSpPr>
        <p:grpSpPr bwMode="auto"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 bwMode="auto"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 bwMode="auto"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 bwMode="auto"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 bwMode="auto"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094388461" name="Google Shape;1143;p30"/>
          <p:cNvGrpSpPr/>
          <p:nvPr/>
        </p:nvGrpSpPr>
        <p:grpSpPr bwMode="auto"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 bwMode="auto"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 bwMode="auto"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 bwMode="auto"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 bwMode="auto"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 bwMode="auto"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927489069" name="Google Shape;1149;p30"/>
          <p:cNvGrpSpPr/>
          <p:nvPr/>
        </p:nvGrpSpPr>
        <p:grpSpPr bwMode="auto"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318809688" name="Google Shape;1162;p30"/>
          <p:cNvGrpSpPr/>
          <p:nvPr/>
        </p:nvGrpSpPr>
        <p:grpSpPr bwMode="auto"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 bwMode="auto"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 bwMode="auto"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 bwMode="auto"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 bwMode="auto"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067419971" name="Google Shape;1167;p30"/>
          <p:cNvGrpSpPr/>
          <p:nvPr/>
        </p:nvGrpSpPr>
        <p:grpSpPr bwMode="auto"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526446728" name="Google Shape;1174;p30"/>
          <p:cNvSpPr/>
          <p:nvPr/>
        </p:nvSpPr>
        <p:spPr bwMode="auto"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52023571" name="Google Shape;1175;p30"/>
          <p:cNvSpPr/>
          <p:nvPr/>
        </p:nvSpPr>
        <p:spPr bwMode="auto"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96544435" name="Google Shape;1176;p30"/>
          <p:cNvSpPr/>
          <p:nvPr/>
        </p:nvSpPr>
        <p:spPr bwMode="auto"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58948046" name="Google Shape;1177;p30"/>
          <p:cNvSpPr/>
          <p:nvPr/>
        </p:nvSpPr>
        <p:spPr bwMode="auto">
          <a:xfrm>
            <a:off x="6525300" y="4846125"/>
            <a:ext cx="824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3036333" name="Google Shape;1178;p30"/>
          <p:cNvSpPr/>
          <p:nvPr/>
        </p:nvSpPr>
        <p:spPr bwMode="auto"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49159503" name="Google Shape;1179;p30"/>
          <p:cNvSpPr/>
          <p:nvPr/>
        </p:nvSpPr>
        <p:spPr bwMode="auto">
          <a:xfrm>
            <a:off x="6530799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10229706" name="Google Shape;1180;p30"/>
          <p:cNvSpPr/>
          <p:nvPr/>
        </p:nvSpPr>
        <p:spPr bwMode="auto"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589509662" name="Google Shape;1181;p30"/>
          <p:cNvGrpSpPr/>
          <p:nvPr/>
        </p:nvGrpSpPr>
        <p:grpSpPr bwMode="auto"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234809566" name="Google Shape;1116;p30"/>
          <p:cNvSpPr/>
          <p:nvPr/>
        </p:nvSpPr>
        <p:spPr bwMode="auto">
          <a:xfrm>
            <a:off x="8547025" y="4519687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982228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45675179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98306906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40753950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449402124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68584152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Technial presentation</a:t>
            </a:r>
            <a:endParaRPr i="1" dirty="0"/>
          </a:p>
        </p:txBody>
      </p:sp>
      <p:sp>
        <p:nvSpPr>
          <p:cNvPr id="111994268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5" y="686500"/>
            <a:ext cx="1512558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01</a:t>
            </a:r>
            <a:endParaRPr/>
          </a:p>
        </p:txBody>
      </p:sp>
      <p:grpSp>
        <p:nvGrpSpPr>
          <p:cNvPr id="204669577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26896603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1178405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65741527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6366640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3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666021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53716146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16282037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Technical</a:t>
            </a:r>
            <a:endParaRPr dirty="0"/>
          </a:p>
        </p:txBody>
      </p:sp>
      <p:sp>
        <p:nvSpPr>
          <p:cNvPr id="627645215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9004004" name="Google Shape;1250;p33"/>
          <p:cNvSpPr txBox="1"/>
          <p:nvPr/>
        </p:nvSpPr>
        <p:spPr bwMode="auto">
          <a:xfrm>
            <a:off x="614729" y="981117"/>
            <a:ext cx="2637341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 dirty="0"/>
              <a:t>General Pipeline</a:t>
            </a:r>
            <a:endParaRPr dirty="0"/>
          </a:p>
        </p:txBody>
      </p:sp>
      <p:sp>
        <p:nvSpPr>
          <p:cNvPr id="158610089" name="ZoneTexte 2015357090"/>
          <p:cNvSpPr txBox="1"/>
          <p:nvPr/>
        </p:nvSpPr>
        <p:spPr bwMode="auto">
          <a:xfrm>
            <a:off x="2591038" y="1840785"/>
            <a:ext cx="598363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endParaRPr/>
          </a:p>
        </p:txBody>
      </p:sp>
      <p:sp>
        <p:nvSpPr>
          <p:cNvPr id="192431346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4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6D58FB44-7564-AA5C-2D9A-B536F71071D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 bwMode="auto">
          <a:xfrm>
            <a:off x="5759244" y="903936"/>
            <a:ext cx="3019709" cy="2093621"/>
          </a:xfrm>
          <a:prstGeom prst="rect">
            <a:avLst/>
          </a:prstGeom>
        </p:spPr>
        <p:txBody>
          <a:bodyPr spcFirstLastPara="1" vertOverflow="overflow" horzOverflow="overflow" vert="horz" wrap="square" lIns="91423" tIns="91423" rIns="91423" bIns="91423" numCol="1" spcCol="0" rtlCol="0" fromWordArt="0" anchor="t" anchorCtr="0" forceAA="0" compatLnSpc="0">
            <a:noAutofit/>
          </a:bodyPr>
          <a:lstStyle/>
          <a:p>
            <a:pPr marL="376150" indent="-261850">
              <a:buFont typeface="Arial"/>
              <a:buChar char="•"/>
              <a:defRPr/>
            </a:pPr>
            <a:r>
              <a:rPr lang="fr-CH" sz="1500" b="1" dirty="0"/>
              <a:t>Pre-</a:t>
            </a:r>
            <a:r>
              <a:rPr lang="fr-CH" sz="1500" b="1" dirty="0" err="1"/>
              <a:t>processing</a:t>
            </a:r>
            <a:r>
              <a:rPr lang="fr-CH" sz="1500" b="1" dirty="0"/>
              <a:t>:</a:t>
            </a:r>
          </a:p>
          <a:p>
            <a:pPr marL="715963" indent="-260350">
              <a:buFont typeface="Arial"/>
              <a:buChar char="•"/>
              <a:tabLst>
                <a:tab pos="538163" algn="l"/>
              </a:tabLst>
              <a:defRPr/>
            </a:pPr>
            <a:r>
              <a:rPr lang="fr-CH" sz="1500" b="1" dirty="0"/>
              <a:t>Audio </a:t>
            </a:r>
            <a:r>
              <a:rPr lang="fr-CH" sz="1500" b="1" dirty="0">
                <a:sym typeface="Wingdings" panose="05000000000000000000" pitchFamily="2" charset="2"/>
              </a:rPr>
              <a:t> Data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b="1" dirty="0" err="1">
                <a:sym typeface="Wingdings" panose="05000000000000000000" pitchFamily="2" charset="2"/>
              </a:rPr>
              <a:t>Detection</a:t>
            </a:r>
            <a:r>
              <a:rPr lang="fr-CH" sz="1500" b="1" dirty="0">
                <a:sym typeface="Wingdings" panose="05000000000000000000" pitchFamily="2" charset="2"/>
              </a:rPr>
              <a:t> of the notes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b="1" dirty="0">
                <a:sym typeface="Wingdings" panose="05000000000000000000" pitchFamily="2" charset="2"/>
              </a:rPr>
              <a:t>Conversion to MIDI</a:t>
            </a:r>
          </a:p>
          <a:p>
            <a:pPr marL="376150" indent="-261850">
              <a:buFont typeface="Arial"/>
              <a:buChar char="•"/>
              <a:defRPr/>
            </a:pPr>
            <a:r>
              <a:rPr lang="fr-CH" sz="1500" b="1" dirty="0">
                <a:sym typeface="Wingdings" panose="05000000000000000000" pitchFamily="2" charset="2"/>
              </a:rPr>
              <a:t>Real time: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b="1" dirty="0" err="1">
                <a:sym typeface="Wingdings" panose="05000000000000000000" pitchFamily="2" charset="2"/>
              </a:rPr>
              <a:t>Parsing</a:t>
            </a:r>
            <a:r>
              <a:rPr lang="fr-CH" sz="1500" b="1" dirty="0">
                <a:sym typeface="Wingdings" panose="05000000000000000000" pitchFamily="2" charset="2"/>
              </a:rPr>
              <a:t> the notes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b="1" dirty="0">
                <a:sym typeface="Wingdings" panose="05000000000000000000" pitchFamily="2" charset="2"/>
              </a:rPr>
              <a:t>Graphics </a:t>
            </a:r>
            <a:r>
              <a:rPr lang="fr-CH" sz="1500" b="1" dirty="0" err="1">
                <a:sym typeface="Wingdings" panose="05000000000000000000" pitchFamily="2" charset="2"/>
              </a:rPr>
              <a:t>render</a:t>
            </a:r>
            <a:endParaRPr lang="fr-FR" sz="1500" b="1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A3526BB-A54E-21F0-991F-3C41F9199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019" y="1501957"/>
            <a:ext cx="906073" cy="906073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D5255830-E0D3-A7EF-CE73-183941F56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985" y="1583375"/>
            <a:ext cx="819978" cy="819978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D60B5F2-6E8B-D663-AADB-5039FF5D3E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0638" y="1588052"/>
            <a:ext cx="819978" cy="81997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999B2F18-14CD-26A4-FBB3-D3284414D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9162" y="1583375"/>
            <a:ext cx="819978" cy="819978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1901EAE9-2D6D-9409-788A-9920558E1B02}"/>
              </a:ext>
            </a:extLst>
          </p:cNvPr>
          <p:cNvSpPr/>
          <p:nvPr/>
        </p:nvSpPr>
        <p:spPr>
          <a:xfrm>
            <a:off x="1539528" y="1840785"/>
            <a:ext cx="376084" cy="2525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Flèche : droite 14">
            <a:extLst>
              <a:ext uri="{FF2B5EF4-FFF2-40B4-BE49-F238E27FC236}">
                <a16:creationId xmlns:a16="http://schemas.microsoft.com/office/drawing/2014/main" id="{3D12B56E-2BAD-4359-7C3D-1826CD51BD22}"/>
              </a:ext>
            </a:extLst>
          </p:cNvPr>
          <p:cNvSpPr/>
          <p:nvPr/>
        </p:nvSpPr>
        <p:spPr bwMode="auto">
          <a:xfrm>
            <a:off x="2826847" y="1837696"/>
            <a:ext cx="376084" cy="2525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7" name="Flèche : droite 16">
            <a:extLst>
              <a:ext uri="{FF2B5EF4-FFF2-40B4-BE49-F238E27FC236}">
                <a16:creationId xmlns:a16="http://schemas.microsoft.com/office/drawing/2014/main" id="{AAA26C93-74B1-3C5A-84C1-9BC04D598975}"/>
              </a:ext>
            </a:extLst>
          </p:cNvPr>
          <p:cNvSpPr/>
          <p:nvPr/>
        </p:nvSpPr>
        <p:spPr bwMode="auto">
          <a:xfrm>
            <a:off x="4294781" y="1843684"/>
            <a:ext cx="376084" cy="2525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BB9FDEB0-DF53-B048-4167-92FD38F42E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32092" y="2626890"/>
            <a:ext cx="906073" cy="906073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71FB4CBA-B724-E4CB-AA60-B75D3B234F4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06463" y="2668023"/>
            <a:ext cx="906073" cy="906073"/>
          </a:xfrm>
          <a:prstGeom prst="rect">
            <a:avLst/>
          </a:prstGeom>
        </p:spPr>
      </p:pic>
      <p:sp>
        <p:nvSpPr>
          <p:cNvPr id="22" name="Flèche : droite 21">
            <a:extLst>
              <a:ext uri="{FF2B5EF4-FFF2-40B4-BE49-F238E27FC236}">
                <a16:creationId xmlns:a16="http://schemas.microsoft.com/office/drawing/2014/main" id="{A35714C2-40C2-344E-E79E-7B9EA62F2B47}"/>
              </a:ext>
            </a:extLst>
          </p:cNvPr>
          <p:cNvSpPr/>
          <p:nvPr/>
        </p:nvSpPr>
        <p:spPr bwMode="auto">
          <a:xfrm>
            <a:off x="2419277" y="2887409"/>
            <a:ext cx="906073" cy="3850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2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8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indefinite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1" dur="indefinite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4" dur="indefinite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indefinite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7" dur="indefinite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0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3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6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9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5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8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"/>
                            </p:stCondLst>
                            <p:childTnLst>
                              <p:par>
                                <p:cTn id="9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750"/>
                            </p:stCondLst>
                            <p:childTnLst>
                              <p:par>
                                <p:cTn id="9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000"/>
                            </p:stCondLst>
                            <p:childTnLst>
                              <p:par>
                                <p:cTn id="9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5" grpId="0" animBg="1"/>
      <p:bldP spid="15" grpId="1" animBg="1"/>
      <p:bldP spid="17" grpId="0" animBg="1"/>
      <p:bldP spid="17" grpId="1" animBg="1"/>
      <p:bldP spid="2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605228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732010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39002731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Technical</a:t>
            </a:r>
            <a:endParaRPr dirty="0"/>
          </a:p>
        </p:txBody>
      </p:sp>
      <p:sp>
        <p:nvSpPr>
          <p:cNvPr id="371871193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491348" y="1631946"/>
            <a:ext cx="3654388" cy="2486409"/>
          </a:xfrm>
          <a:prstGeom prst="rect">
            <a:avLst/>
          </a:prstGeom>
        </p:spPr>
        <p:txBody>
          <a:bodyPr spcFirstLastPara="1" vertOverflow="overflow" horzOverflow="overflow" vert="horz" wrap="square" lIns="91423" tIns="91423" rIns="91423" bIns="91423" numCol="1" spcCol="0" rtlCol="0" fromWordArt="0" anchor="t" anchorCtr="0" forceAA="0" compatLnSpc="0">
            <a:noAutofit/>
          </a:bodyPr>
          <a:lstStyle/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Mesure de l’énergie moyenne du signal audio sur une fenêtre temporelle</a:t>
            </a:r>
          </a:p>
          <a:p>
            <a:pPr marL="376149" indent="-261849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Représente le volume perçu à chaque instant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49" indent="-261849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cs typeface="Abel"/>
              </a:rPr>
              <a:t>Utilisation pour détection d’attaques</a:t>
            </a:r>
          </a:p>
        </p:txBody>
      </p:sp>
      <p:sp>
        <p:nvSpPr>
          <p:cNvPr id="68512052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3776218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 dirty="0"/>
              <a:t>Note </a:t>
            </a:r>
            <a:r>
              <a:rPr lang="fr-FR" sz="2400" b="1" i="1" dirty="0" err="1"/>
              <a:t>detection</a:t>
            </a:r>
            <a:endParaRPr lang="en" sz="2400" b="1" i="1" dirty="0"/>
          </a:p>
        </p:txBody>
      </p:sp>
      <p:sp>
        <p:nvSpPr>
          <p:cNvPr id="2078148047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5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827175544" name="Image 82717554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75674" y="1534545"/>
            <a:ext cx="4687584" cy="3515688"/>
          </a:xfrm>
          <a:prstGeom prst="rect">
            <a:avLst/>
          </a:prstGeom>
        </p:spPr>
      </p:pic>
      <p:sp>
        <p:nvSpPr>
          <p:cNvPr id="1327147176" name="ZoneTexte 1327147175"/>
          <p:cNvSpPr txBox="1"/>
          <p:nvPr/>
        </p:nvSpPr>
        <p:spPr bwMode="auto">
          <a:xfrm>
            <a:off x="953595" y="1631946"/>
            <a:ext cx="1971373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>
                <a:solidFill>
                  <a:srgbClr val="C00000"/>
                </a:solidFill>
              </a:rPr>
              <a:t>Piano</a:t>
            </a:r>
            <a:endParaRPr/>
          </a:p>
        </p:txBody>
      </p:sp>
      <p:sp>
        <p:nvSpPr>
          <p:cNvPr id="1696924056" name="ZoneTexte 1696924055"/>
          <p:cNvSpPr txBox="1"/>
          <p:nvPr/>
        </p:nvSpPr>
        <p:spPr bwMode="auto">
          <a:xfrm>
            <a:off x="2991417" y="1631946"/>
            <a:ext cx="1974613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>
                <a:solidFill>
                  <a:srgbClr val="C00000"/>
                </a:solidFill>
              </a:rPr>
              <a:t>Trompette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1915393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4658912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7266024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Technical</a:t>
            </a:r>
            <a:endParaRPr dirty="0"/>
          </a:p>
        </p:txBody>
      </p:sp>
      <p:sp>
        <p:nvSpPr>
          <p:cNvPr id="1690376046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4591170" y="1022149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CH" sz="1600" b="1" i="0" u="none" strike="noStrike" cap="none" spc="0" dirty="0" err="1">
                <a:solidFill>
                  <a:schemeClr val="dk1"/>
                </a:solidFill>
                <a:latin typeface="Abel"/>
                <a:ea typeface="Abel"/>
                <a:cs typeface="Abel"/>
              </a:rPr>
              <a:t>TriangularShape</a:t>
            </a:r>
            <a:r>
              <a:rPr lang="fr-CH" sz="16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as </a:t>
            </a:r>
            <a:r>
              <a:rPr lang="fr-CH" sz="1600" b="1" i="0" u="none" strike="noStrike" cap="none" spc="0" dirty="0" err="1">
                <a:solidFill>
                  <a:schemeClr val="dk1"/>
                </a:solidFill>
                <a:latin typeface="Abel"/>
                <a:ea typeface="Abel"/>
                <a:cs typeface="Abel"/>
              </a:rPr>
              <a:t>based</a:t>
            </a:r>
            <a:r>
              <a:rPr lang="fr-CH" sz="16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class</a:t>
            </a:r>
            <a:endParaRPr lang="fr-CH" b="1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fr-FR" sz="16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CH" b="1" dirty="0" err="1"/>
              <a:t>Fireworks</a:t>
            </a:r>
            <a:r>
              <a:rPr lang="fr-CH" b="1" dirty="0"/>
              <a:t> and </a:t>
            </a:r>
            <a:r>
              <a:rPr lang="fr-CH" b="1" dirty="0" err="1"/>
              <a:t>clouds</a:t>
            </a:r>
            <a:endParaRPr lang="fr-CH" b="1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fr-CH" b="1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CH" b="1" dirty="0" err="1"/>
              <a:t>Procedural</a:t>
            </a:r>
            <a:r>
              <a:rPr lang="fr-CH" b="1" dirty="0"/>
              <a:t> </a:t>
            </a:r>
            <a:r>
              <a:rPr lang="fr-CH" b="1" dirty="0" err="1"/>
              <a:t>Generation</a:t>
            </a:r>
            <a:r>
              <a:rPr lang="fr-CH" b="1" dirty="0"/>
              <a:t> (L-System, Grammar)</a:t>
            </a:r>
            <a:endParaRPr b="1" dirty="0"/>
          </a:p>
        </p:txBody>
      </p:sp>
      <p:sp>
        <p:nvSpPr>
          <p:cNvPr id="19858815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63861713" name="Google Shape;1250;p33"/>
          <p:cNvSpPr txBox="1"/>
          <p:nvPr/>
        </p:nvSpPr>
        <p:spPr bwMode="auto">
          <a:xfrm>
            <a:off x="614730" y="981117"/>
            <a:ext cx="2829018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 dirty="0" err="1"/>
              <a:t>Visulization</a:t>
            </a:r>
            <a:r>
              <a:rPr lang="fr-FR" sz="2400" b="1" i="1" dirty="0"/>
              <a:t> </a:t>
            </a:r>
            <a:r>
              <a:rPr lang="fr-FR" sz="2400" b="1" i="1" dirty="0" err="1"/>
              <a:t>procedure</a:t>
            </a:r>
            <a:endParaRPr dirty="0"/>
          </a:p>
        </p:txBody>
      </p:sp>
      <p:sp>
        <p:nvSpPr>
          <p:cNvPr id="482249161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6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3" name="Image 5">
            <a:extLst>
              <a:ext uri="{FF2B5EF4-FFF2-40B4-BE49-F238E27FC236}">
                <a16:creationId xmlns:a16="http://schemas.microsoft.com/office/drawing/2014/main" id="{1F3F5EBF-A4C5-64A8-6E47-9F4F92A6A12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15688" y="2215375"/>
            <a:ext cx="5999173" cy="2440589"/>
          </a:xfrm>
          <a:prstGeom prst="rect">
            <a:avLst/>
          </a:prstGeom>
        </p:spPr>
      </p:pic>
      <p:pic>
        <p:nvPicPr>
          <p:cNvPr id="4" name="Image 3" descr="L-systèmes - Les fractales">
            <a:extLst>
              <a:ext uri="{FF2B5EF4-FFF2-40B4-BE49-F238E27FC236}">
                <a16:creationId xmlns:a16="http://schemas.microsoft.com/office/drawing/2014/main" id="{48EF1F59-4EED-55E9-B580-8FEBD47105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18" y="1682881"/>
            <a:ext cx="3875365" cy="310318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745B21E-B756-1E0A-6DF9-05C46B952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49" y="2122217"/>
            <a:ext cx="4786353" cy="27854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9" presetClass="emph" presetSubtype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4" dur="indefinite"/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03760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903760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877246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0751124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299970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938724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38124590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endParaRPr lang="en" sz="2400" b="1" i="1"/>
          </a:p>
        </p:txBody>
      </p:sp>
      <p:sp>
        <p:nvSpPr>
          <p:cNvPr id="1761465405" name="Google Shape;1250;p33"/>
          <p:cNvSpPr txBox="1"/>
          <p:nvPr/>
        </p:nvSpPr>
        <p:spPr bwMode="auto">
          <a:xfrm>
            <a:off x="297590" y="1022149"/>
            <a:ext cx="3755426" cy="947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Pipeline</a:t>
            </a:r>
            <a:endParaRPr/>
          </a:p>
        </p:txBody>
      </p:sp>
      <p:sp>
        <p:nvSpPr>
          <p:cNvPr id="760117528" name="Sous-titre 5"/>
          <p:cNvSpPr>
            <a:spLocks noGrp="1"/>
          </p:cNvSpPr>
          <p:nvPr>
            <p:ph type="subTitle" idx="1"/>
          </p:nvPr>
        </p:nvSpPr>
        <p:spPr bwMode="auto">
          <a:xfrm>
            <a:off x="1838793" y="1022148"/>
            <a:ext cx="6912284" cy="4297356"/>
          </a:xfrm>
          <a:prstGeom prst="rect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100000">
                <a:schemeClr val="tx1">
                  <a:lumMod val="10000"/>
                  <a:lumOff val="90000"/>
                </a:schemeClr>
              </a:gs>
            </a:gsLst>
            <a:lin ang="0" scaled="1"/>
          </a:gradFill>
        </p:spPr>
        <p:txBody>
          <a:bodyPr/>
          <a:lstStyle/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Chargement audio (librosa)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STFT + RMS + </a:t>
            </a:r>
            <a:r>
              <a:rPr lang="fr-FR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Onset Enveloppe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Détection des pics d’attaque (onset + peak_pick)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Calcul du temps de décroissance par pic (RMS &lt; 60% du pic)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Segmentation : chaque pic → un segment (du pic au prochain pic)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Pour chaque segment :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  • Classification instrument (piano / trompette) → basée sur la pente de décroissance du log(RMS)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  • Estimation de la hauteur (pyin) → conversion en note MIDI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Génération MIDI (2 pistes : piano &amp; trompette) 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</p:txBody>
      </p:sp>
      <p:sp>
        <p:nvSpPr>
          <p:cNvPr id="103111837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7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60926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817287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072971124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415260213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29535047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9678285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183717" y="2298275"/>
            <a:ext cx="5412754" cy="147318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Managerial presentation</a:t>
            </a:r>
            <a:endParaRPr i="1" dirty="0"/>
          </a:p>
        </p:txBody>
      </p:sp>
      <p:sp>
        <p:nvSpPr>
          <p:cNvPr id="1393028023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114766384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070079512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840505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27432045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10879091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8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4003187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72662401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70958275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148961305" name="Imag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49783" y="1008755"/>
            <a:ext cx="8644434" cy="3125990"/>
          </a:xfrm>
          <a:prstGeom prst="rect">
            <a:avLst/>
          </a:prstGeom>
        </p:spPr>
      </p:pic>
      <p:sp>
        <p:nvSpPr>
          <p:cNvPr id="912242617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15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947;p43">
            <a:extLst>
              <a:ext uri="{FF2B5EF4-FFF2-40B4-BE49-F238E27FC236}">
                <a16:creationId xmlns:a16="http://schemas.microsoft.com/office/drawing/2014/main" id="{B15F79E1-BC2A-5C1D-35C5-CAF0234BA58F}"/>
              </a:ext>
            </a:extLst>
          </p:cNvPr>
          <p:cNvSpPr txBox="1">
            <a:spLocks/>
          </p:cNvSpPr>
          <p:nvPr/>
        </p:nvSpPr>
        <p:spPr bwMode="auto">
          <a:xfrm>
            <a:off x="713275" y="31446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r>
              <a:rPr lang="fr-CH"/>
              <a:t>Managerial presentation</a:t>
            </a:r>
            <a:endParaRPr lang="fr-CH" i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3658162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49507438" name="Google Shape;1947;p43"/>
          <p:cNvSpPr txBox="1">
            <a:spLocks noGrp="1"/>
          </p:cNvSpPr>
          <p:nvPr>
            <p:ph type="title"/>
          </p:nvPr>
        </p:nvSpPr>
        <p:spPr bwMode="auto">
          <a:xfrm>
            <a:off x="713250" y="314463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en" dirty="0"/>
              <a:t>Managerial presentation</a:t>
            </a:r>
            <a:endParaRPr i="1" dirty="0"/>
          </a:p>
        </p:txBody>
      </p:sp>
      <p:sp>
        <p:nvSpPr>
          <p:cNvPr id="261393839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05358442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419867553" name="Image 2"/>
          <p:cNvPicPr>
            <a:picLocks noChangeAspect="1"/>
          </p:cNvPicPr>
          <p:nvPr/>
        </p:nvPicPr>
        <p:blipFill rotWithShape="1">
          <a:blip r:embed="rId3"/>
          <a:srcRect t="18761" r="67169" b="2959"/>
          <a:stretch/>
        </p:blipFill>
        <p:spPr bwMode="auto">
          <a:xfrm>
            <a:off x="235996" y="989164"/>
            <a:ext cx="4699007" cy="4051568"/>
          </a:xfrm>
          <a:prstGeom prst="rect">
            <a:avLst/>
          </a:prstGeom>
        </p:spPr>
      </p:pic>
      <p:pic>
        <p:nvPicPr>
          <p:cNvPr id="670094885" name="Image 3"/>
          <p:cNvPicPr>
            <a:picLocks noChangeAspect="1"/>
          </p:cNvPicPr>
          <p:nvPr/>
        </p:nvPicPr>
        <p:blipFill rotWithShape="1">
          <a:blip r:embed="rId4"/>
          <a:srcRect r="55500"/>
          <a:stretch/>
        </p:blipFill>
        <p:spPr bwMode="auto">
          <a:xfrm>
            <a:off x="4935003" y="989163"/>
            <a:ext cx="3495772" cy="4049134"/>
          </a:xfrm>
          <a:prstGeom prst="rect">
            <a:avLst/>
          </a:prstGeom>
        </p:spPr>
      </p:pic>
      <p:sp>
        <p:nvSpPr>
          <p:cNvPr id="2087616963" name="Ellipse 6"/>
          <p:cNvSpPr/>
          <p:nvPr/>
        </p:nvSpPr>
        <p:spPr bwMode="auto">
          <a:xfrm>
            <a:off x="7057882" y="3110799"/>
            <a:ext cx="588157" cy="3630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CH"/>
          </a:p>
        </p:txBody>
      </p:sp>
      <p:sp>
        <p:nvSpPr>
          <p:cNvPr id="885124955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16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7616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0876169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8761696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29632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8300042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5019406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919932398" name="Image 2"/>
          <p:cNvPicPr>
            <a:picLocks noChangeAspect="1"/>
          </p:cNvPicPr>
          <p:nvPr/>
        </p:nvPicPr>
        <p:blipFill rotWithShape="1">
          <a:blip r:embed="rId3"/>
          <a:srcRect t="18761" r="67169" b="2959"/>
          <a:stretch/>
        </p:blipFill>
        <p:spPr bwMode="auto">
          <a:xfrm>
            <a:off x="180856" y="851314"/>
            <a:ext cx="4580045" cy="3948997"/>
          </a:xfrm>
          <a:prstGeom prst="rect">
            <a:avLst/>
          </a:prstGeom>
        </p:spPr>
      </p:pic>
      <p:pic>
        <p:nvPicPr>
          <p:cNvPr id="329882903" name="Image 3"/>
          <p:cNvPicPr>
            <a:picLocks noChangeAspect="1"/>
          </p:cNvPicPr>
          <p:nvPr/>
        </p:nvPicPr>
        <p:blipFill rotWithShape="1">
          <a:blip r:embed="rId4"/>
          <a:srcRect l="44697" r="-147"/>
          <a:stretch/>
        </p:blipFill>
        <p:spPr bwMode="auto">
          <a:xfrm>
            <a:off x="4760901" y="851313"/>
            <a:ext cx="4245757" cy="3946625"/>
          </a:xfrm>
          <a:prstGeom prst="rect">
            <a:avLst/>
          </a:prstGeom>
        </p:spPr>
      </p:pic>
      <p:sp>
        <p:nvSpPr>
          <p:cNvPr id="1880401188" name="Google Shape;1116;p30"/>
          <p:cNvSpPr/>
          <p:nvPr/>
        </p:nvSpPr>
        <p:spPr bwMode="auto">
          <a:xfrm>
            <a:off x="8623593" y="4744426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17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947;p43">
            <a:extLst>
              <a:ext uri="{FF2B5EF4-FFF2-40B4-BE49-F238E27FC236}">
                <a16:creationId xmlns:a16="http://schemas.microsoft.com/office/drawing/2014/main" id="{6F4E0D46-991F-1B34-BF53-23EA48B36AC0}"/>
              </a:ext>
            </a:extLst>
          </p:cNvPr>
          <p:cNvSpPr txBox="1">
            <a:spLocks/>
          </p:cNvSpPr>
          <p:nvPr/>
        </p:nvSpPr>
        <p:spPr bwMode="auto">
          <a:xfrm>
            <a:off x="713275" y="31446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r>
              <a:rPr lang="fr-CH"/>
              <a:t>Managerial presentation</a:t>
            </a:r>
            <a:endParaRPr lang="fr-CH" i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12E5E79-3537-CC96-085B-B768356421E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29632" name="Google Shape;1946;p43">
            <a:extLst>
              <a:ext uri="{FF2B5EF4-FFF2-40B4-BE49-F238E27FC236}">
                <a16:creationId xmlns:a16="http://schemas.microsoft.com/office/drawing/2014/main" id="{7488F0B8-08C5-99A0-6672-128ACA6A5C4F}"/>
              </a:ext>
            </a:extLst>
          </p:cNvPr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8300042" name="Google Shape;1949;p43">
            <a:extLst>
              <a:ext uri="{FF2B5EF4-FFF2-40B4-BE49-F238E27FC236}">
                <a16:creationId xmlns:a16="http://schemas.microsoft.com/office/drawing/2014/main" id="{F859FD47-93A2-ED9E-9894-3045187F62E4}"/>
              </a:ext>
            </a:extLst>
          </p:cNvPr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5019406" name="Google Shape;1950;p43">
            <a:extLst>
              <a:ext uri="{FF2B5EF4-FFF2-40B4-BE49-F238E27FC236}">
                <a16:creationId xmlns:a16="http://schemas.microsoft.com/office/drawing/2014/main" id="{96CFDB56-31C5-7EEF-B1D4-AA2CD382DDD8}"/>
              </a:ext>
            </a:extLst>
          </p:cNvPr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919932398" name="Image 2">
            <a:extLst>
              <a:ext uri="{FF2B5EF4-FFF2-40B4-BE49-F238E27FC236}">
                <a16:creationId xmlns:a16="http://schemas.microsoft.com/office/drawing/2014/main" id="{D22B26BD-31F3-4231-5C31-965F03A473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761" r="67169" b="2959"/>
          <a:stretch/>
        </p:blipFill>
        <p:spPr bwMode="auto">
          <a:xfrm>
            <a:off x="180856" y="851314"/>
            <a:ext cx="4580045" cy="3948997"/>
          </a:xfrm>
          <a:prstGeom prst="rect">
            <a:avLst/>
          </a:prstGeom>
        </p:spPr>
      </p:pic>
      <p:pic>
        <p:nvPicPr>
          <p:cNvPr id="329882903" name="Image 3">
            <a:extLst>
              <a:ext uri="{FF2B5EF4-FFF2-40B4-BE49-F238E27FC236}">
                <a16:creationId xmlns:a16="http://schemas.microsoft.com/office/drawing/2014/main" id="{4CAF019A-AA76-A914-A352-229D5D889E8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4301" t="-60" r="249" b="60"/>
          <a:stretch>
            <a:fillRect/>
          </a:stretch>
        </p:blipFill>
        <p:spPr bwMode="auto">
          <a:xfrm>
            <a:off x="4760901" y="851313"/>
            <a:ext cx="4245757" cy="3946625"/>
          </a:xfrm>
          <a:prstGeom prst="rect">
            <a:avLst/>
          </a:prstGeom>
        </p:spPr>
      </p:pic>
      <p:sp>
        <p:nvSpPr>
          <p:cNvPr id="1880401188" name="Google Shape;1116;p30">
            <a:extLst>
              <a:ext uri="{FF2B5EF4-FFF2-40B4-BE49-F238E27FC236}">
                <a16:creationId xmlns:a16="http://schemas.microsoft.com/office/drawing/2014/main" id="{0EC89515-6C9E-2F79-4BE1-46AAB1B9811F}"/>
              </a:ext>
            </a:extLst>
          </p:cNvPr>
          <p:cNvSpPr/>
          <p:nvPr/>
        </p:nvSpPr>
        <p:spPr bwMode="auto">
          <a:xfrm>
            <a:off x="8623593" y="4744426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17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947;p43">
            <a:extLst>
              <a:ext uri="{FF2B5EF4-FFF2-40B4-BE49-F238E27FC236}">
                <a16:creationId xmlns:a16="http://schemas.microsoft.com/office/drawing/2014/main" id="{CC99ED83-968B-C5C2-5C42-729A85DD526C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713275" y="314463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en" dirty="0"/>
              <a:t>Managerial presentation</a:t>
            </a:r>
            <a:endParaRPr i="1" dirty="0"/>
          </a:p>
        </p:txBody>
      </p:sp>
    </p:spTree>
    <p:extLst>
      <p:ext uri="{BB962C8B-B14F-4D97-AF65-F5344CB8AC3E}">
        <p14:creationId xmlns:p14="http://schemas.microsoft.com/office/powerpoint/2010/main" val="26441368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6350621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49129106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045180651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448006820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549564339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17210770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607103" y="2530245"/>
            <a:ext cx="424574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 dirty="0" err="1"/>
              <a:t>Students</a:t>
            </a:r>
            <a:r>
              <a:rPr lang="fr-CH" dirty="0"/>
              <a:t> contribution</a:t>
            </a:r>
            <a:endParaRPr dirty="0"/>
          </a:p>
        </p:txBody>
      </p:sp>
      <p:sp>
        <p:nvSpPr>
          <p:cNvPr id="1527971228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03</a:t>
            </a:r>
            <a:endParaRPr/>
          </a:p>
        </p:txBody>
      </p:sp>
      <p:grpSp>
        <p:nvGrpSpPr>
          <p:cNvPr id="392310887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064631622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45556797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11033214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7749965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14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0076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8468849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7716092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2025477827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/>
              <a:t>Orbite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/>
              <a:t>Gradient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/>
              <a:t>Density</a:t>
            </a:r>
            <a:endParaRPr/>
          </a:p>
        </p:txBody>
      </p:sp>
      <p:sp>
        <p:nvSpPr>
          <p:cNvPr id="889570857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197713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Alan</a:t>
            </a:r>
            <a:endParaRPr dirty="0"/>
          </a:p>
        </p:txBody>
      </p:sp>
      <p:sp>
        <p:nvSpPr>
          <p:cNvPr id="712006406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9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FB3AE73-1EA2-F985-8CF1-4B9E0C88F86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00769" name="Google Shape;1247;p33">
            <a:extLst>
              <a:ext uri="{FF2B5EF4-FFF2-40B4-BE49-F238E27FC236}">
                <a16:creationId xmlns:a16="http://schemas.microsoft.com/office/drawing/2014/main" id="{F5CC43E4-4D47-E6D2-D3F5-A9EDCB082509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8468849" name="Google Shape;1248;p33">
            <a:extLst>
              <a:ext uri="{FF2B5EF4-FFF2-40B4-BE49-F238E27FC236}">
                <a16:creationId xmlns:a16="http://schemas.microsoft.com/office/drawing/2014/main" id="{FE95985A-3158-4E83-6E3A-A11B224F0821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77160924" name="Google Shape;1249;p33">
            <a:extLst>
              <a:ext uri="{FF2B5EF4-FFF2-40B4-BE49-F238E27FC236}">
                <a16:creationId xmlns:a16="http://schemas.microsoft.com/office/drawing/2014/main" id="{00B7A714-37D2-FB28-C946-FB260E498A2F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889570857" name="Google Shape;1251;p33">
            <a:extLst>
              <a:ext uri="{FF2B5EF4-FFF2-40B4-BE49-F238E27FC236}">
                <a16:creationId xmlns:a16="http://schemas.microsoft.com/office/drawing/2014/main" id="{5D74271A-6770-4D6F-4EE0-77E8E9CD86BD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1977132" name="Google Shape;1250;p33">
            <a:extLst>
              <a:ext uri="{FF2B5EF4-FFF2-40B4-BE49-F238E27FC236}">
                <a16:creationId xmlns:a16="http://schemas.microsoft.com/office/drawing/2014/main" id="{02B6373C-60B2-3187-5429-B703E0800BD0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Dina</a:t>
            </a:r>
            <a:endParaRPr dirty="0"/>
          </a:p>
        </p:txBody>
      </p:sp>
      <p:sp>
        <p:nvSpPr>
          <p:cNvPr id="712006406" name="Google Shape;1116;p30">
            <a:extLst>
              <a:ext uri="{FF2B5EF4-FFF2-40B4-BE49-F238E27FC236}">
                <a16:creationId xmlns:a16="http://schemas.microsoft.com/office/drawing/2014/main" id="{9D9ACAD0-4D5D-F5CB-FB75-0D8983FCEC93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9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250;p33">
            <a:extLst>
              <a:ext uri="{FF2B5EF4-FFF2-40B4-BE49-F238E27FC236}">
                <a16:creationId xmlns:a16="http://schemas.microsoft.com/office/drawing/2014/main" id="{6D47AF5D-688E-8767-9A95-805EC399538D}"/>
              </a:ext>
            </a:extLst>
          </p:cNvPr>
          <p:cNvSpPr txBox="1">
            <a:spLocks/>
          </p:cNvSpPr>
          <p:nvPr/>
        </p:nvSpPr>
        <p:spPr bwMode="auto">
          <a:xfrm>
            <a:off x="2867487" y="1639559"/>
            <a:ext cx="6106635" cy="1576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CH" b="1"/>
              <a:t>Snowflake</a:t>
            </a:r>
            <a:r>
              <a:rPr lang="fr-CH"/>
              <a:t> ➔ </a:t>
            </a:r>
            <a:r>
              <a:rPr lang="fr-CH" b="1"/>
              <a:t>Center</a:t>
            </a:r>
            <a:r>
              <a:rPr lang="fr-CH"/>
              <a:t> + (6 × </a:t>
            </a:r>
            <a:r>
              <a:rPr lang="fr-CH" b="1"/>
              <a:t>Branch</a:t>
            </a:r>
            <a:r>
              <a:rPr lang="fr-CH"/>
              <a:t>)</a:t>
            </a:r>
          </a:p>
          <a:p>
            <a:r>
              <a:rPr lang="fr-CH" b="1"/>
              <a:t>Branch</a:t>
            </a:r>
            <a:r>
              <a:rPr lang="fr-CH"/>
              <a:t> ➔ </a:t>
            </a:r>
            <a:r>
              <a:rPr lang="fr-CH" b="1"/>
              <a:t>Segment</a:t>
            </a:r>
            <a:r>
              <a:rPr lang="fr-CH"/>
              <a:t> OR (</a:t>
            </a:r>
            <a:r>
              <a:rPr lang="fr-CH" b="1"/>
              <a:t>Segment</a:t>
            </a:r>
            <a:r>
              <a:rPr lang="fr-CH"/>
              <a:t> + </a:t>
            </a:r>
            <a:r>
              <a:rPr lang="fr-CH" b="1"/>
              <a:t>Branch</a:t>
            </a:r>
            <a:r>
              <a:rPr lang="fr-CH"/>
              <a:t>)</a:t>
            </a:r>
          </a:p>
          <a:p>
            <a:r>
              <a:rPr lang="fr-CH" b="1"/>
              <a:t>Segment</a:t>
            </a:r>
            <a:r>
              <a:rPr lang="fr-CH"/>
              <a:t> ➔ </a:t>
            </a:r>
            <a:r>
              <a:rPr lang="fr-CH" b="1"/>
              <a:t>Line</a:t>
            </a:r>
            <a:r>
              <a:rPr lang="fr-CH"/>
              <a:t> + </a:t>
            </a:r>
            <a:r>
              <a:rPr lang="fr-CH" b="1"/>
              <a:t>Decoration</a:t>
            </a:r>
            <a:endParaRPr lang="fr-CH"/>
          </a:p>
          <a:p>
            <a:r>
              <a:rPr lang="fr-CH" b="1"/>
              <a:t>Center</a:t>
            </a:r>
            <a:r>
              <a:rPr lang="fr-CH"/>
              <a:t> ➔ "Hexagon" OR "Empty"</a:t>
            </a:r>
          </a:p>
          <a:p>
            <a:r>
              <a:rPr lang="fr-CH" b="1"/>
              <a:t>Decoration</a:t>
            </a:r>
            <a:r>
              <a:rPr lang="fr-CH"/>
              <a:t> ➔ "V-Shape" OR "Diamond" OR "Empty"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7710404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159503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1390416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1722620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01552274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4189468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Gabriel</a:t>
            </a:r>
            <a:endParaRPr dirty="0"/>
          </a:p>
        </p:txBody>
      </p:sp>
      <p:sp>
        <p:nvSpPr>
          <p:cNvPr id="185079929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Font typeface="Arial"/>
              <a:buChar char="•"/>
              <a:defRPr/>
            </a:pPr>
            <a:r>
              <a:rPr lang="fr-FR" dirty="0"/>
              <a:t>Group follow =&gt; altitude = note </a:t>
            </a:r>
            <a:r>
              <a:rPr lang="fr-FR" dirty="0" err="1"/>
              <a:t>height</a:t>
            </a:r>
            <a:endParaRPr lang="fr-FR" dirty="0"/>
          </a:p>
          <a:p>
            <a:pPr lvl="0">
              <a:buFont typeface="Arial"/>
              <a:buChar char="•"/>
              <a:defRPr/>
            </a:pPr>
            <a:r>
              <a:rPr lang="fr-FR" dirty="0" err="1"/>
              <a:t>Same</a:t>
            </a:r>
            <a:r>
              <a:rPr lang="fr-FR" dirty="0"/>
              <a:t> midi =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birds</a:t>
            </a:r>
            <a:endParaRPr lang="fr-CH" dirty="0"/>
          </a:p>
        </p:txBody>
      </p:sp>
      <p:sp>
        <p:nvSpPr>
          <p:cNvPr id="114309485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10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679027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11523958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17785092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227093775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2867487" y="1639559"/>
            <a:ext cx="6106635" cy="15764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CH" b="1" dirty="0" err="1"/>
              <a:t>Snowflake</a:t>
            </a:r>
            <a:r>
              <a:rPr lang="fr-CH" dirty="0"/>
              <a:t> ➔ </a:t>
            </a:r>
            <a:r>
              <a:rPr lang="fr-CH" b="1" dirty="0"/>
              <a:t>Center</a:t>
            </a:r>
            <a:r>
              <a:rPr lang="fr-CH" dirty="0"/>
              <a:t> + (6 × </a:t>
            </a:r>
            <a:r>
              <a:rPr lang="fr-CH" b="1" dirty="0"/>
              <a:t>Branch</a:t>
            </a:r>
            <a:r>
              <a:rPr lang="fr-CH" dirty="0"/>
              <a:t>)</a:t>
            </a:r>
          </a:p>
          <a:p>
            <a:pPr lvl="0"/>
            <a:r>
              <a:rPr lang="fr-CH" b="1" dirty="0"/>
              <a:t>Branch</a:t>
            </a:r>
            <a:r>
              <a:rPr lang="fr-CH" dirty="0"/>
              <a:t> ➔ </a:t>
            </a:r>
            <a:r>
              <a:rPr lang="fr-CH" b="1" dirty="0"/>
              <a:t>Segment</a:t>
            </a:r>
            <a:r>
              <a:rPr lang="fr-CH" dirty="0"/>
              <a:t> OR (</a:t>
            </a:r>
            <a:r>
              <a:rPr lang="fr-CH" b="1" dirty="0"/>
              <a:t>Segment</a:t>
            </a:r>
            <a:r>
              <a:rPr lang="fr-CH" dirty="0"/>
              <a:t> + </a:t>
            </a:r>
            <a:r>
              <a:rPr lang="fr-CH" b="1" dirty="0"/>
              <a:t>Branch</a:t>
            </a:r>
            <a:r>
              <a:rPr lang="fr-CH" dirty="0"/>
              <a:t>)</a:t>
            </a:r>
          </a:p>
          <a:p>
            <a:pPr lvl="0"/>
            <a:r>
              <a:rPr lang="fr-CH" b="1" dirty="0"/>
              <a:t>Segment</a:t>
            </a:r>
            <a:r>
              <a:rPr lang="fr-CH" dirty="0"/>
              <a:t> ➔ </a:t>
            </a:r>
            <a:r>
              <a:rPr lang="fr-CH" b="1" dirty="0"/>
              <a:t>Line</a:t>
            </a:r>
            <a:r>
              <a:rPr lang="fr-CH" dirty="0"/>
              <a:t> + </a:t>
            </a:r>
            <a:r>
              <a:rPr lang="fr-CH" b="1" dirty="0" err="1"/>
              <a:t>Decoration</a:t>
            </a:r>
            <a:endParaRPr lang="fr-CH" dirty="0"/>
          </a:p>
          <a:p>
            <a:pPr lvl="0"/>
            <a:r>
              <a:rPr lang="fr-CH" b="1" dirty="0"/>
              <a:t>Center</a:t>
            </a:r>
            <a:r>
              <a:rPr lang="fr-CH" dirty="0"/>
              <a:t> ➔ "</a:t>
            </a:r>
            <a:r>
              <a:rPr lang="fr-CH" dirty="0" err="1"/>
              <a:t>Hexagon</a:t>
            </a:r>
            <a:r>
              <a:rPr lang="fr-CH" dirty="0"/>
              <a:t>" OR "</a:t>
            </a:r>
            <a:r>
              <a:rPr lang="fr-CH" dirty="0" err="1"/>
              <a:t>Empty</a:t>
            </a:r>
            <a:r>
              <a:rPr lang="fr-CH" dirty="0"/>
              <a:t>"</a:t>
            </a:r>
          </a:p>
          <a:p>
            <a:pPr lvl="0"/>
            <a:r>
              <a:rPr lang="fr-CH" b="1" dirty="0" err="1"/>
              <a:t>Decoration</a:t>
            </a:r>
            <a:r>
              <a:rPr lang="fr-CH" dirty="0"/>
              <a:t> ➔ "V-Shape" OR "Diamond" OR "</a:t>
            </a:r>
            <a:r>
              <a:rPr lang="fr-CH" dirty="0" err="1"/>
              <a:t>Empty</a:t>
            </a:r>
            <a:r>
              <a:rPr lang="fr-CH" dirty="0"/>
              <a:t>"</a:t>
            </a:r>
          </a:p>
        </p:txBody>
      </p:sp>
      <p:sp>
        <p:nvSpPr>
          <p:cNvPr id="452672992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0539739" name="Google Shape;1250;p33"/>
          <p:cNvSpPr txBox="1"/>
          <p:nvPr/>
        </p:nvSpPr>
        <p:spPr bwMode="auto">
          <a:xfrm>
            <a:off x="614730" y="981117"/>
            <a:ext cx="6191651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CH" sz="2400" b="1" dirty="0" err="1"/>
              <a:t>Ravaka</a:t>
            </a:r>
            <a:endParaRPr lang="fr-CH" sz="2400" dirty="0"/>
          </a:p>
        </p:txBody>
      </p:sp>
      <p:sp>
        <p:nvSpPr>
          <p:cNvPr id="1388944154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11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0225929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05952258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558361061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476791021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898903339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81589321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530245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Showcase</a:t>
            </a:r>
            <a:endParaRPr i="1"/>
          </a:p>
        </p:txBody>
      </p:sp>
      <p:sp>
        <p:nvSpPr>
          <p:cNvPr id="166119827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04</a:t>
            </a:r>
            <a:endParaRPr/>
          </a:p>
        </p:txBody>
      </p:sp>
      <p:grpSp>
        <p:nvGrpSpPr>
          <p:cNvPr id="1104493523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671253256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353676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790800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7546720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19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195743" name="Google Shape;2299;p49"/>
          <p:cNvSpPr/>
          <p:nvPr/>
        </p:nvSpPr>
        <p:spPr bwMode="auto"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18366883" name="Google Shape;2300;p49"/>
          <p:cNvGrpSpPr/>
          <p:nvPr/>
        </p:nvGrpSpPr>
        <p:grpSpPr bwMode="auto"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 bwMode="auto"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 bwMode="auto"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 bwMode="auto"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 bwMode="auto"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 bwMode="auto"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 bwMode="auto">
              <a:xfrm>
                <a:off x="11075" y="3519300"/>
                <a:ext cx="204649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 bwMode="auto"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 bwMode="auto"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 bwMode="auto">
              <a:xfrm>
                <a:off x="1976050" y="3763800"/>
                <a:ext cx="202399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 bwMode="auto"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 bwMode="auto"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 bwMode="auto"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 bwMode="auto"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 bwMode="auto"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 bwMode="auto"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 bwMode="auto"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 bwMode="auto"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 bwMode="auto"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 bwMode="auto">
            <a:xfrm>
              <a:off x="292425" y="3568199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428812064" name="Google Shape;2320;p49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Thanks!</a:t>
            </a:r>
            <a:endParaRPr dirty="0"/>
          </a:p>
        </p:txBody>
      </p:sp>
      <p:sp>
        <p:nvSpPr>
          <p:cNvPr id="301007327" name="Google Shape;2322;p49"/>
          <p:cNvSpPr txBox="1"/>
          <p:nvPr/>
        </p:nvSpPr>
        <p:spPr bwMode="auto"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  <p:sp>
        <p:nvSpPr>
          <p:cNvPr id="340642345" name="Google Shape;2344;p49"/>
          <p:cNvSpPr/>
          <p:nvPr/>
        </p:nvSpPr>
        <p:spPr bwMode="auto"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79938754" name="Google Shape;2345;p49"/>
          <p:cNvSpPr/>
          <p:nvPr/>
        </p:nvSpPr>
        <p:spPr bwMode="auto"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93075858" name="Google Shape;2346;p49"/>
          <p:cNvGrpSpPr/>
          <p:nvPr/>
        </p:nvGrpSpPr>
        <p:grpSpPr bwMode="auto"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 bwMode="auto"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 bwMode="auto">
              <a:xfrm>
                <a:off x="-70375" y="4454000"/>
                <a:ext cx="9237925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 bwMode="auto"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 bwMode="auto"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 bwMode="auto"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 bwMode="auto"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472759777" name="Google Shape;2405;p49"/>
          <p:cNvSpPr/>
          <p:nvPr/>
        </p:nvSpPr>
        <p:spPr bwMode="auto"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02323688" name="Google Shape;2406;p49"/>
          <p:cNvSpPr/>
          <p:nvPr/>
        </p:nvSpPr>
        <p:spPr bwMode="auto"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21814521" name="Google Shape;2407;p49"/>
          <p:cNvSpPr/>
          <p:nvPr/>
        </p:nvSpPr>
        <p:spPr bwMode="auto"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05400003" name="Google Shape;2408;p49"/>
          <p:cNvSpPr/>
          <p:nvPr/>
        </p:nvSpPr>
        <p:spPr bwMode="auto"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67425828" name="Google Shape;2409;p49"/>
          <p:cNvSpPr/>
          <p:nvPr/>
        </p:nvSpPr>
        <p:spPr bwMode="auto"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03229922" name="Google Shape;2410;p49"/>
          <p:cNvSpPr/>
          <p:nvPr/>
        </p:nvSpPr>
        <p:spPr bwMode="auto"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84394934" name="Google Shape;2411;p49"/>
          <p:cNvGrpSpPr/>
          <p:nvPr/>
        </p:nvGrpSpPr>
        <p:grpSpPr bwMode="auto">
          <a:xfrm>
            <a:off x="649349" y="4019912"/>
            <a:ext cx="3269776" cy="772427"/>
            <a:chOff x="3962175" y="2857795"/>
            <a:chExt cx="3075700" cy="726579"/>
          </a:xfrm>
        </p:grpSpPr>
        <p:sp>
          <p:nvSpPr>
            <p:cNvPr id="2412" name="Google Shape;2412;p4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41053681" name="ZoneTexte 1"/>
          <p:cNvSpPr txBox="1"/>
          <p:nvPr/>
        </p:nvSpPr>
        <p:spPr bwMode="auto"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fr-CH" sz="1800" b="1">
                <a:solidFill>
                  <a:schemeClr val="dk1"/>
                </a:solidFill>
                <a:latin typeface="Abel"/>
              </a:rPr>
              <a:t>Do you have questions?</a:t>
            </a:r>
            <a:endParaRPr/>
          </a:p>
        </p:txBody>
      </p:sp>
      <p:pic>
        <p:nvPicPr>
          <p:cNvPr id="1663192405" name="Imag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5400000">
            <a:off x="7086943" y="2202813"/>
            <a:ext cx="355520" cy="4459962"/>
          </a:xfrm>
          <a:prstGeom prst="rect">
            <a:avLst/>
          </a:prstGeom>
        </p:spPr>
      </p:pic>
      <p:sp>
        <p:nvSpPr>
          <p:cNvPr id="1992344528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20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480</Words>
  <Application>Microsoft Office PowerPoint</Application>
  <PresentationFormat>Affichage à l'écran (16:9)</PresentationFormat>
  <Paragraphs>109</Paragraphs>
  <Slides>18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3" baseType="lpstr">
      <vt:lpstr>Arial</vt:lpstr>
      <vt:lpstr>Bakbak One</vt:lpstr>
      <vt:lpstr>Abel</vt:lpstr>
      <vt:lpstr>Wingdings</vt:lpstr>
      <vt:lpstr>Railroad Minitheme by Slidesgo</vt:lpstr>
      <vt:lpstr>RailBeat  Summer School</vt:lpstr>
      <vt:lpstr>Technial presentation</vt:lpstr>
      <vt:lpstr>Technical</vt:lpstr>
      <vt:lpstr>Technical</vt:lpstr>
      <vt:lpstr>Technical</vt:lpstr>
      <vt:lpstr>Sounds analysis</vt:lpstr>
      <vt:lpstr>Managerial presentation</vt:lpstr>
      <vt:lpstr>Présentation PowerPoint</vt:lpstr>
      <vt:lpstr>Managerial presentation</vt:lpstr>
      <vt:lpstr>Présentation PowerPoint</vt:lpstr>
      <vt:lpstr>Managerial presentation</vt:lpstr>
      <vt:lpstr>Students contribution</vt:lpstr>
      <vt:lpstr>Animation</vt:lpstr>
      <vt:lpstr>Animation</vt:lpstr>
      <vt:lpstr>Animation</vt:lpstr>
      <vt:lpstr>Animation</vt:lpstr>
      <vt:lpstr>Showcase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Zuber Dina</cp:lastModifiedBy>
  <cp:revision>86</cp:revision>
  <dcterms:modified xsi:type="dcterms:W3CDTF">2026-09-01T13:33:46Z</dcterms:modified>
</cp:coreProperties>
</file>