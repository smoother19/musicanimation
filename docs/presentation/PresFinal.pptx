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9" r:id="rId4"/>
    <p:sldId id="278" r:id="rId5"/>
    <p:sldId id="261" r:id="rId6"/>
    <p:sldId id="279" r:id="rId7"/>
    <p:sldId id="281" r:id="rId8"/>
    <p:sldId id="260" r:id="rId9"/>
    <p:sldId id="262" r:id="rId10"/>
    <p:sldId id="263" r:id="rId11"/>
    <p:sldId id="270" r:id="rId12"/>
    <p:sldId id="271" r:id="rId13"/>
    <p:sldId id="272" r:id="rId14"/>
    <p:sldId id="276" r:id="rId15"/>
    <p:sldId id="269" r:id="rId16"/>
    <p:sldId id="264" r:id="rId17"/>
    <p:sldId id="277" r:id="rId18"/>
    <p:sldId id="265" r:id="rId19"/>
    <p:sldId id="266" r:id="rId20"/>
    <p:sldId id="274" r:id="rId21"/>
    <p:sldId id="275" r:id="rId22"/>
  </p:sldIdLst>
  <p:sldSz cx="9144000" cy="5143500" type="screen16x9"/>
  <p:notesSz cx="6858000" cy="9144000"/>
  <p:embeddedFontLst>
    <p:embeddedFont>
      <p:font typeface="Abel" panose="02000506030000020004" pitchFamily="2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77CF"/>
    <a:srgbClr val="4DAB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382" autoAdjust="0"/>
  </p:normalViewPr>
  <p:slideViewPr>
    <p:cSldViewPr snapToGrid="0">
      <p:cViewPr>
        <p:scale>
          <a:sx n="150" d="100"/>
          <a:sy n="150" d="100"/>
        </p:scale>
        <p:origin x="1716" y="92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050711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9813349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837317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726599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13079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567583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AFBBCA3-C2B7-1D50-EAE4-9C157A850DA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>
            <a:extLst>
              <a:ext uri="{FF2B5EF4-FFF2-40B4-BE49-F238E27FC236}">
                <a16:creationId xmlns:a16="http://schemas.microsoft.com/office/drawing/2014/main" id="{509D325D-4E72-CFBE-2F95-0FA644D99E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>
            <a:extLst>
              <a:ext uri="{FF2B5EF4-FFF2-40B4-BE49-F238E27FC236}">
                <a16:creationId xmlns:a16="http://schemas.microsoft.com/office/drawing/2014/main" id="{CC90EE04-3154-AF64-68BC-842D977D2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b="1" dirty="0" err="1"/>
              <a:t>Librosa</a:t>
            </a:r>
            <a:r>
              <a:rPr lang="fr-CH" b="1" dirty="0"/>
              <a:t> :</a:t>
            </a:r>
            <a:r>
              <a:rPr lang="fr-CH" dirty="0"/>
              <a:t> bibliothèque Python d'analyse et de traitement audio. </a:t>
            </a:r>
          </a:p>
          <a:p>
            <a:pPr lvl="0"/>
            <a:r>
              <a:rPr lang="fr-CH" b="1" dirty="0" err="1"/>
              <a:t>NumPy</a:t>
            </a:r>
            <a:r>
              <a:rPr lang="fr-CH" b="1" dirty="0"/>
              <a:t> :</a:t>
            </a:r>
            <a:r>
              <a:rPr lang="fr-CH" dirty="0"/>
              <a:t> bibliothèque Python de calcul numérique et de manipulation de tableaux. </a:t>
            </a:r>
          </a:p>
          <a:p>
            <a:pPr lvl="0"/>
            <a:r>
              <a:rPr lang="fr-CH" b="1" dirty="0" err="1"/>
              <a:t>Pygame</a:t>
            </a:r>
            <a:r>
              <a:rPr lang="fr-CH" b="1" dirty="0"/>
              <a:t> :</a:t>
            </a:r>
            <a:r>
              <a:rPr lang="fr-CH" dirty="0"/>
              <a:t> bibliothèque Python permettant de créer des animations, des interfaces graphiques et des applications multimédias.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64367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996383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752407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7528E68-DE3B-88CE-787D-D0D49337718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008626" name="Google Shape;1244;g152a7caf94b_1_413:notes">
            <a:extLst>
              <a:ext uri="{FF2B5EF4-FFF2-40B4-BE49-F238E27FC236}">
                <a16:creationId xmlns:a16="http://schemas.microsoft.com/office/drawing/2014/main" id="{33CD3080-97F2-3668-E297-8EF88AFD0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157427" name="Google Shape;1245;g152a7caf94b_1_413:notes">
            <a:extLst>
              <a:ext uri="{FF2B5EF4-FFF2-40B4-BE49-F238E27FC236}">
                <a16:creationId xmlns:a16="http://schemas.microsoft.com/office/drawing/2014/main" id="{AB0DDE14-332E-E153-37BE-BABEF52A3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56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21915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26292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00862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15742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13534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54315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822791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92247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94719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06677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70605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068692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EF374F3-8FA6-7A0C-93B7-14DA2D8CAB9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70605" name="Google Shape;1943;g152a7caf94b_1_2463:notes">
            <a:extLst>
              <a:ext uri="{FF2B5EF4-FFF2-40B4-BE49-F238E27FC236}">
                <a16:creationId xmlns:a16="http://schemas.microsoft.com/office/drawing/2014/main" id="{F95FECB7-8BE9-B576-87DC-E31998B72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0686923" name="Google Shape;1944;g152a7caf94b_1_2463:notes">
            <a:extLst>
              <a:ext uri="{FF2B5EF4-FFF2-40B4-BE49-F238E27FC236}">
                <a16:creationId xmlns:a16="http://schemas.microsoft.com/office/drawing/2014/main" id="{68E79EC7-55BD-0499-40BE-7FD1959FBCDE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0535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11108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872539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9A1C976-C22F-95DC-6ADD-9218CFDCAA5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>
            <a:extLst>
              <a:ext uri="{FF2B5EF4-FFF2-40B4-BE49-F238E27FC236}">
                <a16:creationId xmlns:a16="http://schemas.microsoft.com/office/drawing/2014/main" id="{EA1FB6FE-9B97-FE66-393C-4C6A4F95B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>
            <a:extLst>
              <a:ext uri="{FF2B5EF4-FFF2-40B4-BE49-F238E27FC236}">
                <a16:creationId xmlns:a16="http://schemas.microsoft.com/office/drawing/2014/main" id="{EDF8519C-C310-90FB-222C-0A1373CA80B6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07386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02246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71583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43093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781979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67246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748003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795549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252857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774376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894211911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961347443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0540069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176062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15506477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884047298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1741066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7368838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899350554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1982745160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2273245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188129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1606882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4706729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2447992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3599878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5199816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545313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800156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7988860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8754205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7682888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57730696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58480214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2424363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30774464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37062243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77513031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49054389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312236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71282473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0068452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372733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62382687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157503389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155650462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015018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11036455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025377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9147796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519514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15016996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00430171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4045922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3562911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51895325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1355109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9653691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86583402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129304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8056163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8212619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1161925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90734224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40262024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549874335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522435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88899186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973708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558248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95134244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457291418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668254125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/>
              <a:t>RailBeat</a:t>
            </a:r>
            <a:r>
              <a:rPr lang="fr-CH" sz="7200"/>
              <a:t> </a:t>
            </a:r>
            <a:endParaRPr sz="71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>
                <a:solidFill>
                  <a:schemeClr val="accent2"/>
                </a:solidFill>
              </a:rPr>
              <a:t>Summer School</a:t>
            </a:r>
            <a:endParaRPr sz="4500" i="1">
              <a:solidFill>
                <a:schemeClr val="accent2"/>
              </a:solidFill>
            </a:endParaRPr>
          </a:p>
        </p:txBody>
      </p:sp>
      <p:sp>
        <p:nvSpPr>
          <p:cNvPr id="287806153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615829344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94830007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05154336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939258598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460813360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094388461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927489069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18809688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067419971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526446728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52023571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544435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58948046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3036333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915950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10229706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89509662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234809566" name="Google Shape;1116;p30"/>
          <p:cNvSpPr/>
          <p:nvPr/>
        </p:nvSpPr>
        <p:spPr bwMode="auto">
          <a:xfrm>
            <a:off x="8547025" y="4519687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982228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45675179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8306906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4075395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4940212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8584152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Technial presentation</a:t>
            </a:r>
            <a:endParaRPr i="1" dirty="0"/>
          </a:p>
        </p:txBody>
      </p:sp>
      <p:sp>
        <p:nvSpPr>
          <p:cNvPr id="111994268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grpSp>
        <p:nvGrpSpPr>
          <p:cNvPr id="20466957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2689660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178405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5741527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6366640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2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666021" name="Google Shape;1247;p33"/>
          <p:cNvSpPr/>
          <p:nvPr/>
        </p:nvSpPr>
        <p:spPr bwMode="auto">
          <a:xfrm>
            <a:off x="-1617103" y="1684410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319A200-2F38-FAE4-EF57-A0C1EFBDCC3C}"/>
              </a:ext>
            </a:extLst>
          </p:cNvPr>
          <p:cNvSpPr txBox="1"/>
          <p:nvPr/>
        </p:nvSpPr>
        <p:spPr bwMode="auto">
          <a:xfrm>
            <a:off x="629356" y="1618984"/>
            <a:ext cx="5404039" cy="237071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sp>
        <p:nvSpPr>
          <p:cNvPr id="165371614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672559" y="359889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62764521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/>
          <p:cNvSpPr txBox="1"/>
          <p:nvPr/>
        </p:nvSpPr>
        <p:spPr bwMode="auto">
          <a:xfrm>
            <a:off x="645973" y="111698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u="none" dirty="0"/>
              <a:t>General Pipeline</a:t>
            </a:r>
            <a:endParaRPr u="none" dirty="0"/>
          </a:p>
        </p:txBody>
      </p:sp>
      <p:sp>
        <p:nvSpPr>
          <p:cNvPr id="158610089" name="ZoneTexte 2015357090"/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6D58FB44-7564-AA5C-2D9A-B536F71071D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6092409" y="1363819"/>
            <a:ext cx="2575300" cy="20936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b="1" dirty="0">
                <a:solidFill>
                  <a:schemeClr val="bg2">
                    <a:lumMod val="10000"/>
                  </a:schemeClr>
                </a:solidFill>
              </a:rPr>
              <a:t>Pre-</a:t>
            </a:r>
            <a:r>
              <a:rPr lang="fr-CH" sz="1500" b="1" dirty="0" err="1">
                <a:solidFill>
                  <a:schemeClr val="bg2">
                    <a:lumMod val="10000"/>
                  </a:schemeClr>
                </a:solidFill>
              </a:rPr>
              <a:t>processing</a:t>
            </a:r>
            <a:r>
              <a:rPr lang="fr-CH" sz="1500" b="1" dirty="0">
                <a:solidFill>
                  <a:schemeClr val="bg2">
                    <a:lumMod val="10000"/>
                  </a:schemeClr>
                </a:solidFill>
              </a:rPr>
              <a:t>:</a:t>
            </a:r>
          </a:p>
          <a:p>
            <a:pPr marL="715963" indent="-260350">
              <a:buFont typeface="Arial"/>
              <a:buChar char="•"/>
              <a:tabLst>
                <a:tab pos="538163" algn="l"/>
              </a:tabLst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</a:rPr>
              <a:t>Audio 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 Data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Detection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of the notes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Conversion to MIDI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Real time: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Parsing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the notes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Graphics </a:t>
            </a: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render</a:t>
            </a:r>
            <a:endParaRPr lang="fr-FR" sz="15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Google Shape;1214;p32">
            <a:extLst>
              <a:ext uri="{FF2B5EF4-FFF2-40B4-BE49-F238E27FC236}">
                <a16:creationId xmlns:a16="http://schemas.microsoft.com/office/drawing/2014/main" id="{0F6051D6-7E7E-BD70-96D1-6AEBB111D9E3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A3526BB-A54E-21F0-991F-3C41F9199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8626" y="1742253"/>
            <a:ext cx="906073" cy="90607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5255830-E0D3-A7EF-CE73-183941F56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37592" y="1823671"/>
            <a:ext cx="819978" cy="819978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DD60B5F2-6E8B-D663-AADB-5039FF5D3E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243245" y="1828348"/>
            <a:ext cx="819978" cy="8199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999B2F18-14CD-26A4-FBB3-D3284414D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571769" y="1823671"/>
            <a:ext cx="819978" cy="819978"/>
          </a:xfrm>
          <a:prstGeom prst="rect">
            <a:avLst/>
          </a:prstGeom>
        </p:spPr>
      </p:pic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1901EAE9-2D6D-9409-788A-9920558E1B02}"/>
              </a:ext>
            </a:extLst>
          </p:cNvPr>
          <p:cNvSpPr/>
          <p:nvPr/>
        </p:nvSpPr>
        <p:spPr bwMode="auto">
          <a:xfrm>
            <a:off x="1842135" y="2081081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3D12B56E-2BAD-4359-7C3D-1826CD51BD22}"/>
              </a:ext>
            </a:extLst>
          </p:cNvPr>
          <p:cNvSpPr/>
          <p:nvPr/>
        </p:nvSpPr>
        <p:spPr bwMode="auto">
          <a:xfrm>
            <a:off x="3129454" y="2077992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3" name="Flèche : droite 22">
            <a:extLst>
              <a:ext uri="{FF2B5EF4-FFF2-40B4-BE49-F238E27FC236}">
                <a16:creationId xmlns:a16="http://schemas.microsoft.com/office/drawing/2014/main" id="{AAA26C93-74B1-3C5A-84C1-9BC04D598975}"/>
              </a:ext>
            </a:extLst>
          </p:cNvPr>
          <p:cNvSpPr/>
          <p:nvPr/>
        </p:nvSpPr>
        <p:spPr bwMode="auto">
          <a:xfrm>
            <a:off x="4597388" y="2083980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BB9FDEB0-DF53-B048-4167-92FD38F42E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1689232" y="2914593"/>
            <a:ext cx="906073" cy="90607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71FB4CBA-B724-E4CB-AA60-B75D3B234F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 bwMode="auto">
          <a:xfrm>
            <a:off x="3627040" y="2959261"/>
            <a:ext cx="906073" cy="906073"/>
          </a:xfrm>
          <a:prstGeom prst="rect">
            <a:avLst/>
          </a:prstGeom>
        </p:spPr>
      </p:pic>
      <p:sp>
        <p:nvSpPr>
          <p:cNvPr id="26" name="Flèche : droite 25">
            <a:extLst>
              <a:ext uri="{FF2B5EF4-FFF2-40B4-BE49-F238E27FC236}">
                <a16:creationId xmlns:a16="http://schemas.microsoft.com/office/drawing/2014/main" id="{A35714C2-40C2-344E-E79E-7B9EA62F2B47}"/>
              </a:ext>
            </a:extLst>
          </p:cNvPr>
          <p:cNvSpPr/>
          <p:nvPr/>
        </p:nvSpPr>
        <p:spPr bwMode="auto">
          <a:xfrm>
            <a:off x="2875744" y="3216373"/>
            <a:ext cx="407570" cy="2892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0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3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6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9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2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5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8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250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750"/>
                            </p:stCondLst>
                            <p:childTnLst>
                              <p:par>
                                <p:cTn id="9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20" grpId="0" animBg="1"/>
      <p:bldP spid="20" grpId="1" animBg="1"/>
      <p:bldP spid="23" grpId="0" animBg="1"/>
      <p:bldP spid="23" grpId="1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443EC83-2B17-0230-2A00-8ABE2737CBE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666021" name="Google Shape;1247;p33">
            <a:extLst>
              <a:ext uri="{FF2B5EF4-FFF2-40B4-BE49-F238E27FC236}">
                <a16:creationId xmlns:a16="http://schemas.microsoft.com/office/drawing/2014/main" id="{91AC7B64-7F9F-9AEF-6D43-B0AF69F57379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53716146" name="Google Shape;1248;p33">
            <a:extLst>
              <a:ext uri="{FF2B5EF4-FFF2-40B4-BE49-F238E27FC236}">
                <a16:creationId xmlns:a16="http://schemas.microsoft.com/office/drawing/2014/main" id="{7A816791-E52C-BBEB-024A-08ACA677BD68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>
            <a:extLst>
              <a:ext uri="{FF2B5EF4-FFF2-40B4-BE49-F238E27FC236}">
                <a16:creationId xmlns:a16="http://schemas.microsoft.com/office/drawing/2014/main" id="{C661FB2B-2583-D4FE-A149-A06CCF4DDAE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672559" y="433044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627645215" name="Google Shape;1251;p33">
            <a:extLst>
              <a:ext uri="{FF2B5EF4-FFF2-40B4-BE49-F238E27FC236}">
                <a16:creationId xmlns:a16="http://schemas.microsoft.com/office/drawing/2014/main" id="{882C374E-77D4-F822-82F5-E4A34CDD54C1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>
            <a:extLst>
              <a:ext uri="{FF2B5EF4-FFF2-40B4-BE49-F238E27FC236}">
                <a16:creationId xmlns:a16="http://schemas.microsoft.com/office/drawing/2014/main" id="{89F37CA6-089A-BA99-1575-A0C2098AFB8B}"/>
              </a:ext>
            </a:extLst>
          </p:cNvPr>
          <p:cNvSpPr txBox="1"/>
          <p:nvPr/>
        </p:nvSpPr>
        <p:spPr bwMode="auto">
          <a:xfrm>
            <a:off x="614729" y="98111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dirty="0"/>
          </a:p>
        </p:txBody>
      </p:sp>
      <p:sp>
        <p:nvSpPr>
          <p:cNvPr id="158610089" name="ZoneTexte 2015357090">
            <a:extLst>
              <a:ext uri="{FF2B5EF4-FFF2-40B4-BE49-F238E27FC236}">
                <a16:creationId xmlns:a16="http://schemas.microsoft.com/office/drawing/2014/main" id="{53A1BE8B-D469-5125-EAD6-35CCB4FA2B71}"/>
              </a:ext>
            </a:extLst>
          </p:cNvPr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>
            <a:extLst>
              <a:ext uri="{FF2B5EF4-FFF2-40B4-BE49-F238E27FC236}">
                <a16:creationId xmlns:a16="http://schemas.microsoft.com/office/drawing/2014/main" id="{CD251FE6-E5F6-33F8-5B4F-9CEF8E2821A5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94452B5-8673-B874-0740-27B87ED3195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6367388" y="938222"/>
            <a:ext cx="2637342" cy="26437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</a:rPr>
              <a:t>Librosa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Analysis and extraction of audio data.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455613" indent="0">
              <a:defRPr/>
            </a:pPr>
            <a:endParaRPr lang="fr-CH" sz="1400" dirty="0">
              <a:solidFill>
                <a:schemeClr val="bg2">
                  <a:lumMod val="10000"/>
                </a:schemeClr>
              </a:solidFill>
              <a:sym typeface="Wingdings" panose="05000000000000000000" pitchFamily="2" charset="2"/>
            </a:endParaRPr>
          </a:p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Numpy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Calculation and processing of extracted audio data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114300" indent="0">
              <a:defRPr/>
            </a:pPr>
            <a:endParaRPr lang="fr-CH" sz="1400" dirty="0">
              <a:solidFill>
                <a:schemeClr val="bg2">
                  <a:lumMod val="10000"/>
                </a:schemeClr>
              </a:solidFill>
              <a:sym typeface="Wingdings" panose="05000000000000000000" pitchFamily="2" charset="2"/>
            </a:endParaRPr>
          </a:p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Pygame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Generating animations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synchronised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with music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  <a:endParaRPr lang="fr-FR" sz="1400" dirty="0">
              <a:solidFill>
                <a:schemeClr val="bg2">
                  <a:lumMod val="10000"/>
                </a:schemeClr>
              </a:solidFill>
            </a:endParaRPr>
          </a:p>
          <a:p>
            <a:pPr marL="715963" indent="-260350">
              <a:buFont typeface="Arial"/>
              <a:buChar char="•"/>
              <a:defRPr/>
            </a:pPr>
            <a:endParaRPr lang="fr-FR" sz="1400" b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5A7E888A-B5B2-22D2-DF5B-618FA207DDA8}"/>
              </a:ext>
            </a:extLst>
          </p:cNvPr>
          <p:cNvSpPr txBox="1"/>
          <p:nvPr/>
        </p:nvSpPr>
        <p:spPr bwMode="auto">
          <a:xfrm>
            <a:off x="645973" y="111698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u="none" dirty="0"/>
              <a:t>Tools</a:t>
            </a:r>
            <a:endParaRPr u="none" dirty="0"/>
          </a:p>
        </p:txBody>
      </p:sp>
      <p:sp>
        <p:nvSpPr>
          <p:cNvPr id="5" name="Google Shape;1214;p32">
            <a:extLst>
              <a:ext uri="{FF2B5EF4-FFF2-40B4-BE49-F238E27FC236}">
                <a16:creationId xmlns:a16="http://schemas.microsoft.com/office/drawing/2014/main" id="{52F710BD-3687-7E54-7DF5-668C0290B7FF}"/>
              </a:ext>
            </a:extLst>
          </p:cNvPr>
          <p:cNvSpPr/>
          <p:nvPr/>
        </p:nvSpPr>
        <p:spPr bwMode="auto">
          <a:xfrm>
            <a:off x="8164500" y="100995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BA5932B-428C-35E5-DA1E-0AB5107BE19C}"/>
              </a:ext>
            </a:extLst>
          </p:cNvPr>
          <p:cNvSpPr txBox="1"/>
          <p:nvPr/>
        </p:nvSpPr>
        <p:spPr bwMode="auto">
          <a:xfrm>
            <a:off x="751430" y="1736187"/>
            <a:ext cx="5404039" cy="2370714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19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0CC38790-08C2-6CDD-D77D-09245B8257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1038" y="2714846"/>
            <a:ext cx="1342033" cy="376560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93BE1101-8594-63C6-4553-5AF35F80EA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98960" y="2602137"/>
            <a:ext cx="1469234" cy="601978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1350412D-0800-197A-B860-2D81887A7A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169" y="2474389"/>
            <a:ext cx="857474" cy="857474"/>
          </a:xfrm>
          <a:prstGeom prst="rect">
            <a:avLst/>
          </a:prstGeom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3C40202E-6E5E-F776-2C38-BC278B74850B}"/>
              </a:ext>
            </a:extLst>
          </p:cNvPr>
          <p:cNvSpPr txBox="1"/>
          <p:nvPr/>
        </p:nvSpPr>
        <p:spPr>
          <a:xfrm>
            <a:off x="1159841" y="3257716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>
                <a:solidFill>
                  <a:srgbClr val="4D77CF"/>
                </a:solidFill>
              </a:rPr>
              <a:t>Numpy</a:t>
            </a:r>
            <a:endParaRPr lang="fr-CH" dirty="0">
              <a:solidFill>
                <a:srgbClr val="4D77C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624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91539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65891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726602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575945" y="446376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1690376046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128472" y="1456090"/>
            <a:ext cx="3938100" cy="19833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sz="16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TriangularShape</a:t>
            </a:r>
            <a:r>
              <a:rPr lang="fr-CH" sz="16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as </a:t>
            </a:r>
            <a:r>
              <a:rPr lang="fr-CH" sz="16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based</a:t>
            </a:r>
            <a:r>
              <a:rPr lang="fr-CH" sz="16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class</a:t>
            </a: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fr-FR" sz="16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b="1" dirty="0" err="1"/>
              <a:t>Fireworks</a:t>
            </a:r>
            <a:r>
              <a:rPr lang="fr-CH" b="1" dirty="0"/>
              <a:t> and </a:t>
            </a:r>
            <a:r>
              <a:rPr lang="fr-CH" b="1" dirty="0" err="1"/>
              <a:t>clouds</a:t>
            </a: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b="1" dirty="0" err="1"/>
              <a:t>Procedural</a:t>
            </a:r>
            <a:r>
              <a:rPr lang="fr-CH" b="1" dirty="0"/>
              <a:t> </a:t>
            </a:r>
            <a:r>
              <a:rPr lang="fr-CH" b="1" dirty="0" err="1"/>
              <a:t>Generation</a:t>
            </a:r>
            <a:r>
              <a:rPr lang="fr-CH" b="1" dirty="0"/>
              <a:t> (L-System, Grammar)</a:t>
            </a:r>
            <a:endParaRPr b="1" dirty="0"/>
          </a:p>
        </p:txBody>
      </p:sp>
      <p:sp>
        <p:nvSpPr>
          <p:cNvPr id="19858815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3861713" name="Google Shape;1250;p33"/>
          <p:cNvSpPr txBox="1"/>
          <p:nvPr/>
        </p:nvSpPr>
        <p:spPr bwMode="auto">
          <a:xfrm>
            <a:off x="575945" y="1090382"/>
            <a:ext cx="4595376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u="none" dirty="0" err="1"/>
              <a:t>Visulization</a:t>
            </a:r>
            <a:r>
              <a:rPr lang="fr-FR" u="none" dirty="0"/>
              <a:t> </a:t>
            </a:r>
            <a:r>
              <a:rPr lang="fr-FR" u="none" dirty="0" err="1"/>
              <a:t>procedure</a:t>
            </a:r>
            <a:endParaRPr u="none" dirty="0"/>
          </a:p>
        </p:txBody>
      </p:sp>
      <p:sp>
        <p:nvSpPr>
          <p:cNvPr id="48224916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6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3" name="Image 5">
            <a:extLst>
              <a:ext uri="{FF2B5EF4-FFF2-40B4-BE49-F238E27FC236}">
                <a16:creationId xmlns:a16="http://schemas.microsoft.com/office/drawing/2014/main" id="{1F3F5EBF-A4C5-64A8-6E47-9F4F92A6A12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15688" y="2215375"/>
            <a:ext cx="5999173" cy="2440589"/>
          </a:xfrm>
          <a:prstGeom prst="rect">
            <a:avLst/>
          </a:prstGeom>
        </p:spPr>
      </p:pic>
      <p:pic>
        <p:nvPicPr>
          <p:cNvPr id="4" name="Image 3" descr="L-systèmes - Les fractales">
            <a:extLst>
              <a:ext uri="{FF2B5EF4-FFF2-40B4-BE49-F238E27FC236}">
                <a16:creationId xmlns:a16="http://schemas.microsoft.com/office/drawing/2014/main" id="{48EF1F59-4EED-55E9-B580-8FEBD47105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18" y="1682881"/>
            <a:ext cx="3875365" cy="310318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745B21E-B756-1E0A-6DF9-05C46B95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49" y="2122217"/>
            <a:ext cx="4786353" cy="2785470"/>
          </a:xfrm>
          <a:prstGeom prst="rect">
            <a:avLst/>
          </a:prstGeom>
        </p:spPr>
      </p:pic>
      <p:sp>
        <p:nvSpPr>
          <p:cNvPr id="2" name="Google Shape;1214;p32">
            <a:extLst>
              <a:ext uri="{FF2B5EF4-FFF2-40B4-BE49-F238E27FC236}">
                <a16:creationId xmlns:a16="http://schemas.microsoft.com/office/drawing/2014/main" id="{33A32777-6B4C-D2DD-671D-C191A5487C57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9" presetClass="emph" presetSubtype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4" dur="indefinite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903760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8913086-7077-011A-246A-69513BE2C7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877246" name="Google Shape;1247;p33">
            <a:extLst>
              <a:ext uri="{FF2B5EF4-FFF2-40B4-BE49-F238E27FC236}">
                <a16:creationId xmlns:a16="http://schemas.microsoft.com/office/drawing/2014/main" id="{DF34AAF1-D4D4-7E22-877C-56A86F461287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0751124" name="Google Shape;1248;p33">
            <a:extLst>
              <a:ext uri="{FF2B5EF4-FFF2-40B4-BE49-F238E27FC236}">
                <a16:creationId xmlns:a16="http://schemas.microsoft.com/office/drawing/2014/main" id="{8C15AD28-8020-F7A8-72F0-2D00DB682E9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299970" name="Google Shape;1249;p33">
            <a:extLst>
              <a:ext uri="{FF2B5EF4-FFF2-40B4-BE49-F238E27FC236}">
                <a16:creationId xmlns:a16="http://schemas.microsoft.com/office/drawing/2014/main" id="{8076A5FD-397E-8D29-79E9-A9138FD60880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635124" y="446376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938724" name="Google Shape;1251;p33">
            <a:extLst>
              <a:ext uri="{FF2B5EF4-FFF2-40B4-BE49-F238E27FC236}">
                <a16:creationId xmlns:a16="http://schemas.microsoft.com/office/drawing/2014/main" id="{61EC143E-9794-CD73-82C3-A567D921B902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61465405" name="Google Shape;1250;p33">
            <a:extLst>
              <a:ext uri="{FF2B5EF4-FFF2-40B4-BE49-F238E27FC236}">
                <a16:creationId xmlns:a16="http://schemas.microsoft.com/office/drawing/2014/main" id="{E8DADDE7-145A-C9E0-2EBC-BC9AB150F5A8}"/>
              </a:ext>
            </a:extLst>
          </p:cNvPr>
          <p:cNvSpPr txBox="1"/>
          <p:nvPr/>
        </p:nvSpPr>
        <p:spPr bwMode="auto">
          <a:xfrm>
            <a:off x="758776" y="1148446"/>
            <a:ext cx="2493296" cy="437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dirty="0">
                <a:solidFill>
                  <a:srgbClr val="002060"/>
                </a:solidFill>
              </a:rPr>
              <a:t>Sound </a:t>
            </a:r>
            <a:r>
              <a:rPr lang="fr-FR" sz="2400" b="1" dirty="0" err="1">
                <a:solidFill>
                  <a:srgbClr val="002060"/>
                </a:solidFill>
              </a:rPr>
              <a:t>analysis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1031118373" name="Google Shape;1116;p30">
            <a:extLst>
              <a:ext uri="{FF2B5EF4-FFF2-40B4-BE49-F238E27FC236}">
                <a16:creationId xmlns:a16="http://schemas.microsoft.com/office/drawing/2014/main" id="{11FC7E91-32D9-7229-D992-F038CEDA53F1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DB4567-A4F8-7BD3-FC57-FAED9ABB4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702" y="1792675"/>
            <a:ext cx="8275535" cy="2199576"/>
          </a:xfr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Chargement audio (Fichier MP3)</a:t>
            </a:r>
          </a:p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Traitement des fréquences de signaux en frames </a:t>
            </a:r>
          </a:p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Détection des pics d’attaque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Calcul du temps de décroissance par pic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Segmentation : chaque pic → un segment 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Classification instrument (piano / trompette) 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Estimation de la hauteur (</a:t>
            </a:r>
            <a:r>
              <a:rPr lang="fr-FR" sz="1400" b="1" dirty="0" err="1">
                <a:solidFill>
                  <a:schemeClr val="bg2">
                    <a:lumMod val="10000"/>
                  </a:schemeClr>
                </a:solidFill>
              </a:rPr>
              <a:t>pyin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) → conversion en note MIDI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Génération MIDI (2 pistes : piano &amp; trompette) </a:t>
            </a:r>
          </a:p>
          <a:p>
            <a:pPr marL="376150" indent="-261850">
              <a:buFont typeface="Arial"/>
              <a:buChar char="•"/>
            </a:pPr>
            <a:endParaRPr lang="fr-FR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Google Shape;1214;p32">
            <a:extLst>
              <a:ext uri="{FF2B5EF4-FFF2-40B4-BE49-F238E27FC236}">
                <a16:creationId xmlns:a16="http://schemas.microsoft.com/office/drawing/2014/main" id="{B7B831DF-7D36-AB33-8C09-03AB30A3030E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0019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71614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575945" y="393150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Sounds analysis</a:t>
            </a:r>
            <a:endParaRPr sz="3600" b="1" dirty="0"/>
          </a:p>
        </p:txBody>
      </p:sp>
      <p:sp>
        <p:nvSpPr>
          <p:cNvPr id="62764521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/>
          <p:cNvSpPr txBox="1"/>
          <p:nvPr/>
        </p:nvSpPr>
        <p:spPr bwMode="auto">
          <a:xfrm>
            <a:off x="553026" y="1112782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u="none" dirty="0"/>
              <a:t>Algorithmes utilisés</a:t>
            </a:r>
            <a:endParaRPr u="none" dirty="0"/>
          </a:p>
        </p:txBody>
      </p:sp>
      <p:sp>
        <p:nvSpPr>
          <p:cNvPr id="158610089" name="ZoneTexte 2015357090"/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54633918" name="ZoneTexte 1454633917"/>
          <p:cNvSpPr txBox="1"/>
          <p:nvPr/>
        </p:nvSpPr>
        <p:spPr bwMode="auto">
          <a:xfrm>
            <a:off x="629356" y="1651149"/>
            <a:ext cx="8423748" cy="2968633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STFT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librosa.stft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calcul de l'enveloppe d'attaque et les visualisations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RMS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librosa.feature.rms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détection d'attaques, au calcul des temps de décroissance (seuil à 60 %) et à la classification instrument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Onset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 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Detection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librosa.onset.onset_detect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Repère les débuts de notes à partir de l'enveloppe RMS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ea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Peak Picking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librosa.util.peak_pick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Fournit la liste finale des attaques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PYIN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librosa.pyin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: Estimation probabiliste de la fréquence fondamentale (F0) d’un segment donné pour la estimer la note</a:t>
            </a: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sp>
        <p:nvSpPr>
          <p:cNvPr id="2" name="Google Shape;1214;p32">
            <a:extLst>
              <a:ext uri="{FF2B5EF4-FFF2-40B4-BE49-F238E27FC236}">
                <a16:creationId xmlns:a16="http://schemas.microsoft.com/office/drawing/2014/main" id="{9B714729-06A5-93F4-C36E-9F8FE0759308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6052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732010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39002731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Technical</a:t>
            </a:r>
            <a:endParaRPr dirty="0"/>
          </a:p>
        </p:txBody>
      </p:sp>
      <p:sp>
        <p:nvSpPr>
          <p:cNvPr id="37187119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491348" y="1631946"/>
            <a:ext cx="3654388" cy="2486409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Mesure de l’énergie moyenne du signal audio sur une fenêtre temporelle</a:t>
            </a: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Représente le volume perçu à chaque instant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cs typeface="Abel"/>
              </a:rPr>
              <a:t>Utilisation pour détection d’attaques</a:t>
            </a:r>
          </a:p>
        </p:txBody>
      </p:sp>
      <p:sp>
        <p:nvSpPr>
          <p:cNvPr id="6851205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3776218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 dirty="0"/>
              <a:t>Note </a:t>
            </a:r>
            <a:r>
              <a:rPr lang="fr-FR" sz="2400" b="1" i="1" dirty="0" err="1"/>
              <a:t>detection</a:t>
            </a:r>
            <a:endParaRPr lang="en" sz="2400" b="1" i="1" dirty="0"/>
          </a:p>
        </p:txBody>
      </p:sp>
      <p:sp>
        <p:nvSpPr>
          <p:cNvPr id="207814804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5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827175544" name="Image 82717554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5674" y="1534545"/>
            <a:ext cx="4687584" cy="3515688"/>
          </a:xfrm>
          <a:prstGeom prst="rect">
            <a:avLst/>
          </a:prstGeom>
        </p:spPr>
      </p:pic>
      <p:sp>
        <p:nvSpPr>
          <p:cNvPr id="1327147176" name="ZoneTexte 1327147175"/>
          <p:cNvSpPr txBox="1"/>
          <p:nvPr/>
        </p:nvSpPr>
        <p:spPr bwMode="auto">
          <a:xfrm>
            <a:off x="953595" y="1631946"/>
            <a:ext cx="197137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Piano</a:t>
            </a:r>
            <a:endParaRPr/>
          </a:p>
        </p:txBody>
      </p:sp>
      <p:sp>
        <p:nvSpPr>
          <p:cNvPr id="1696924056" name="ZoneTexte 1696924055"/>
          <p:cNvSpPr txBox="1"/>
          <p:nvPr/>
        </p:nvSpPr>
        <p:spPr bwMode="auto">
          <a:xfrm>
            <a:off x="2991417" y="1631946"/>
            <a:ext cx="197461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Trompette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877246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0751124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29997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938724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8124590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/>
          </a:p>
        </p:txBody>
      </p:sp>
      <p:sp>
        <p:nvSpPr>
          <p:cNvPr id="1761465405" name="Google Shape;1250;p33"/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Pipeline</a:t>
            </a:r>
            <a:endParaRPr/>
          </a:p>
        </p:txBody>
      </p:sp>
      <p:sp>
        <p:nvSpPr>
          <p:cNvPr id="760117528" name="Sous-titre 5"/>
          <p:cNvSpPr>
            <a:spLocks noGrp="1"/>
          </p:cNvSpPr>
          <p:nvPr>
            <p:ph type="subTitle" idx="1"/>
          </p:nvPr>
        </p:nvSpPr>
        <p:spPr bwMode="auto">
          <a:xfrm>
            <a:off x="1838793" y="1022148"/>
            <a:ext cx="6912284" cy="4297356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/>
          <a:lstStyle/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Chargement audio (librosa)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STFT + RMS + </a:t>
            </a: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Onset Enveloppe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Détection des pics d’attaque (onset + peak_pick)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Calcul du temps de décroissance par pic (RMS &lt; 60% du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Segmentation : chaque pic → un segment (du pic au prochain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Pour chaque segment :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Classification instrument (piano / trompette) → basée sur la pente de décroissance du log(RMS)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Estimation de la hauteur (pyin) → conversion en note MIDI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Génération MIDI (2 pistes : piano &amp; trompette) 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03111837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7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609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81728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72971124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1526021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2953504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78285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183717" y="2298275"/>
            <a:ext cx="5412754" cy="147318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Managerial presentation</a:t>
            </a:r>
            <a:endParaRPr i="1" dirty="0"/>
          </a:p>
        </p:txBody>
      </p:sp>
      <p:sp>
        <p:nvSpPr>
          <p:cNvPr id="139302802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14766384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7007951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840505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7432045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087909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8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4003187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266240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70958275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148961305" name="Imag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9783" y="1008755"/>
            <a:ext cx="8644434" cy="3125990"/>
          </a:xfrm>
          <a:prstGeom prst="rect">
            <a:avLst/>
          </a:prstGeom>
        </p:spPr>
      </p:pic>
      <p:sp>
        <p:nvSpPr>
          <p:cNvPr id="91224261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15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B15F79E1-BC2A-5C1D-35C5-CAF0234BA58F}"/>
              </a:ext>
            </a:extLst>
          </p:cNvPr>
          <p:cNvSpPr txBox="1">
            <a:spLocks/>
          </p:cNvSpPr>
          <p:nvPr/>
        </p:nvSpPr>
        <p:spPr bwMode="auto">
          <a:xfrm>
            <a:off x="713275" y="31446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r>
              <a:rPr lang="fr-CH"/>
              <a:t>Managerial presentation</a:t>
            </a:r>
            <a:endParaRPr lang="fr-CH" i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58162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49507438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50" y="314463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Managerial presentation</a:t>
            </a:r>
            <a:endParaRPr i="1" dirty="0"/>
          </a:p>
        </p:txBody>
      </p:sp>
      <p:sp>
        <p:nvSpPr>
          <p:cNvPr id="261393839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05358442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419867553" name="Image 2"/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235996" y="989164"/>
            <a:ext cx="4699007" cy="4051568"/>
          </a:xfrm>
          <a:prstGeom prst="rect">
            <a:avLst/>
          </a:prstGeom>
        </p:spPr>
      </p:pic>
      <p:pic>
        <p:nvPicPr>
          <p:cNvPr id="670094885" name="Image 3"/>
          <p:cNvPicPr>
            <a:picLocks noChangeAspect="1"/>
          </p:cNvPicPr>
          <p:nvPr/>
        </p:nvPicPr>
        <p:blipFill rotWithShape="1">
          <a:blip r:embed="rId4"/>
          <a:srcRect r="55500"/>
          <a:stretch/>
        </p:blipFill>
        <p:spPr bwMode="auto">
          <a:xfrm>
            <a:off x="4935003" y="989163"/>
            <a:ext cx="3495772" cy="4049134"/>
          </a:xfrm>
          <a:prstGeom prst="rect">
            <a:avLst/>
          </a:prstGeom>
        </p:spPr>
      </p:pic>
      <p:sp>
        <p:nvSpPr>
          <p:cNvPr id="2087616963" name="Ellipse 6"/>
          <p:cNvSpPr/>
          <p:nvPr/>
        </p:nvSpPr>
        <p:spPr bwMode="auto">
          <a:xfrm>
            <a:off x="7057882" y="311079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p:sp>
        <p:nvSpPr>
          <p:cNvPr id="88512495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16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7616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087616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8761696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9632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300042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5019406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19932398" name="Image 2"/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329882903" name="Image 3"/>
          <p:cNvPicPr>
            <a:picLocks noChangeAspect="1"/>
          </p:cNvPicPr>
          <p:nvPr/>
        </p:nvPicPr>
        <p:blipFill rotWithShape="1">
          <a:blip r:embed="rId4"/>
          <a:srcRect l="44697" r="-147"/>
          <a:stretch/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80401188" name="Google Shape;1116;p30"/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6F4E0D46-991F-1B34-BF53-23EA48B36AC0}"/>
              </a:ext>
            </a:extLst>
          </p:cNvPr>
          <p:cNvSpPr txBox="1">
            <a:spLocks/>
          </p:cNvSpPr>
          <p:nvPr/>
        </p:nvSpPr>
        <p:spPr bwMode="auto">
          <a:xfrm>
            <a:off x="713275" y="31446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r>
              <a:rPr lang="fr-CH"/>
              <a:t>Managerial presentation</a:t>
            </a:r>
            <a:endParaRPr lang="fr-CH" i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12E5E79-3537-CC96-085B-B768356421E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9632" name="Google Shape;1946;p43">
            <a:extLst>
              <a:ext uri="{FF2B5EF4-FFF2-40B4-BE49-F238E27FC236}">
                <a16:creationId xmlns:a16="http://schemas.microsoft.com/office/drawing/2014/main" id="{7488F0B8-08C5-99A0-6672-128ACA6A5C4F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300042" name="Google Shape;1949;p43">
            <a:extLst>
              <a:ext uri="{FF2B5EF4-FFF2-40B4-BE49-F238E27FC236}">
                <a16:creationId xmlns:a16="http://schemas.microsoft.com/office/drawing/2014/main" id="{F859FD47-93A2-ED9E-9894-3045187F62E4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5019406" name="Google Shape;1950;p43">
            <a:extLst>
              <a:ext uri="{FF2B5EF4-FFF2-40B4-BE49-F238E27FC236}">
                <a16:creationId xmlns:a16="http://schemas.microsoft.com/office/drawing/2014/main" id="{96CFDB56-31C5-7EEF-B1D4-AA2CD382DDD8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19932398" name="Image 2">
            <a:extLst>
              <a:ext uri="{FF2B5EF4-FFF2-40B4-BE49-F238E27FC236}">
                <a16:creationId xmlns:a16="http://schemas.microsoft.com/office/drawing/2014/main" id="{D22B26BD-31F3-4231-5C31-965F03A473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329882903" name="Image 3">
            <a:extLst>
              <a:ext uri="{FF2B5EF4-FFF2-40B4-BE49-F238E27FC236}">
                <a16:creationId xmlns:a16="http://schemas.microsoft.com/office/drawing/2014/main" id="{4CAF019A-AA76-A914-A352-229D5D889E8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4301" t="-60" r="249" b="60"/>
          <a:stretch>
            <a:fillRect/>
          </a:stretch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80401188" name="Google Shape;1116;p30">
            <a:extLst>
              <a:ext uri="{FF2B5EF4-FFF2-40B4-BE49-F238E27FC236}">
                <a16:creationId xmlns:a16="http://schemas.microsoft.com/office/drawing/2014/main" id="{0EC89515-6C9E-2F79-4BE1-46AAB1B9811F}"/>
              </a:ext>
            </a:extLst>
          </p:cNvPr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CC99ED83-968B-C5C2-5C42-729A85DD526C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314463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Managerial presentation</a:t>
            </a:r>
            <a:endParaRPr i="1" dirty="0"/>
          </a:p>
        </p:txBody>
      </p:sp>
    </p:spTree>
    <p:extLst>
      <p:ext uri="{BB962C8B-B14F-4D97-AF65-F5344CB8AC3E}">
        <p14:creationId xmlns:p14="http://schemas.microsoft.com/office/powerpoint/2010/main" val="26441368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350621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9129106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4518065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4800682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549564339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7210770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24574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 dirty="0" err="1"/>
              <a:t>Students</a:t>
            </a:r>
            <a:r>
              <a:rPr lang="fr-CH" dirty="0"/>
              <a:t> contribution</a:t>
            </a:r>
            <a:endParaRPr dirty="0"/>
          </a:p>
        </p:txBody>
      </p:sp>
      <p:sp>
        <p:nvSpPr>
          <p:cNvPr id="1527971228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grpSp>
        <p:nvGrpSpPr>
          <p:cNvPr id="39231088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463162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45556797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103321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774996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14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2025477827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Orbite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Gradient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Density</a:t>
            </a:r>
            <a:endParaRPr/>
          </a:p>
        </p:txBody>
      </p:sp>
      <p:sp>
        <p:nvSpPr>
          <p:cNvPr id="88957085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19771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Alan</a:t>
            </a:r>
            <a:endParaRPr dirty="0"/>
          </a:p>
        </p:txBody>
      </p:sp>
      <p:sp>
        <p:nvSpPr>
          <p:cNvPr id="712006406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FB3AE73-1EA2-F985-8CF1-4B9E0C88F86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>
            <a:extLst>
              <a:ext uri="{FF2B5EF4-FFF2-40B4-BE49-F238E27FC236}">
                <a16:creationId xmlns:a16="http://schemas.microsoft.com/office/drawing/2014/main" id="{F5CC43E4-4D47-E6D2-D3F5-A9EDCB082509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>
            <a:extLst>
              <a:ext uri="{FF2B5EF4-FFF2-40B4-BE49-F238E27FC236}">
                <a16:creationId xmlns:a16="http://schemas.microsoft.com/office/drawing/2014/main" id="{FE95985A-3158-4E83-6E3A-A11B224F082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>
            <a:extLst>
              <a:ext uri="{FF2B5EF4-FFF2-40B4-BE49-F238E27FC236}">
                <a16:creationId xmlns:a16="http://schemas.microsoft.com/office/drawing/2014/main" id="{00B7A714-37D2-FB28-C946-FB260E498A2F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889570857" name="Google Shape;1251;p33">
            <a:extLst>
              <a:ext uri="{FF2B5EF4-FFF2-40B4-BE49-F238E27FC236}">
                <a16:creationId xmlns:a16="http://schemas.microsoft.com/office/drawing/2014/main" id="{5D74271A-6770-4D6F-4EE0-77E8E9CD86BD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1977132" name="Google Shape;1250;p33">
            <a:extLst>
              <a:ext uri="{FF2B5EF4-FFF2-40B4-BE49-F238E27FC236}">
                <a16:creationId xmlns:a16="http://schemas.microsoft.com/office/drawing/2014/main" id="{02B6373C-60B2-3187-5429-B703E0800BD0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Dina</a:t>
            </a:r>
            <a:endParaRPr dirty="0"/>
          </a:p>
        </p:txBody>
      </p:sp>
      <p:sp>
        <p:nvSpPr>
          <p:cNvPr id="712006406" name="Google Shape;1116;p30">
            <a:extLst>
              <a:ext uri="{FF2B5EF4-FFF2-40B4-BE49-F238E27FC236}">
                <a16:creationId xmlns:a16="http://schemas.microsoft.com/office/drawing/2014/main" id="{9D9ACAD0-4D5D-F5CB-FB75-0D8983FCEC93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6D47AF5D-688E-8767-9A95-805EC399538D}"/>
              </a:ext>
            </a:extLst>
          </p:cNvPr>
          <p:cNvSpPr txBox="1">
            <a:spLocks/>
          </p:cNvSpPr>
          <p:nvPr/>
        </p:nvSpPr>
        <p:spPr bwMode="auto">
          <a:xfrm>
            <a:off x="2867487" y="1639559"/>
            <a:ext cx="6106635" cy="1576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CH" b="1"/>
              <a:t>Snowflake</a:t>
            </a:r>
            <a:r>
              <a:rPr lang="fr-CH"/>
              <a:t> ➔ </a:t>
            </a:r>
            <a:r>
              <a:rPr lang="fr-CH" b="1"/>
              <a:t>Center</a:t>
            </a:r>
            <a:r>
              <a:rPr lang="fr-CH"/>
              <a:t> + (6 × </a:t>
            </a:r>
            <a:r>
              <a:rPr lang="fr-CH" b="1"/>
              <a:t>Branch</a:t>
            </a:r>
            <a:r>
              <a:rPr lang="fr-CH"/>
              <a:t>)</a:t>
            </a:r>
          </a:p>
          <a:p>
            <a:r>
              <a:rPr lang="fr-CH" b="1"/>
              <a:t>Branch</a:t>
            </a:r>
            <a:r>
              <a:rPr lang="fr-CH"/>
              <a:t> ➔ </a:t>
            </a:r>
            <a:r>
              <a:rPr lang="fr-CH" b="1"/>
              <a:t>Segment</a:t>
            </a:r>
            <a:r>
              <a:rPr lang="fr-CH"/>
              <a:t> OR (</a:t>
            </a:r>
            <a:r>
              <a:rPr lang="fr-CH" b="1"/>
              <a:t>Segment</a:t>
            </a:r>
            <a:r>
              <a:rPr lang="fr-CH"/>
              <a:t> + </a:t>
            </a:r>
            <a:r>
              <a:rPr lang="fr-CH" b="1"/>
              <a:t>Branch</a:t>
            </a:r>
            <a:r>
              <a:rPr lang="fr-CH"/>
              <a:t>)</a:t>
            </a:r>
          </a:p>
          <a:p>
            <a:r>
              <a:rPr lang="fr-CH" b="1"/>
              <a:t>Segment</a:t>
            </a:r>
            <a:r>
              <a:rPr lang="fr-CH"/>
              <a:t> ➔ </a:t>
            </a:r>
            <a:r>
              <a:rPr lang="fr-CH" b="1"/>
              <a:t>Line</a:t>
            </a:r>
            <a:r>
              <a:rPr lang="fr-CH"/>
              <a:t> + </a:t>
            </a:r>
            <a:r>
              <a:rPr lang="fr-CH" b="1"/>
              <a:t>Decoration</a:t>
            </a:r>
            <a:endParaRPr lang="fr-CH"/>
          </a:p>
          <a:p>
            <a:r>
              <a:rPr lang="fr-CH" b="1"/>
              <a:t>Center</a:t>
            </a:r>
            <a:r>
              <a:rPr lang="fr-CH"/>
              <a:t> ➔ "Hexagon" OR "Empty"</a:t>
            </a:r>
          </a:p>
          <a:p>
            <a:r>
              <a:rPr lang="fr-CH" b="1"/>
              <a:t>Decoration</a:t>
            </a:r>
            <a:r>
              <a:rPr lang="fr-CH"/>
              <a:t> ➔ "V-Shape" OR "Diamond" OR "Empty"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771040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15950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139041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172262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015522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4189468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Gabriel</a:t>
            </a:r>
            <a:endParaRPr dirty="0"/>
          </a:p>
        </p:txBody>
      </p:sp>
      <p:sp>
        <p:nvSpPr>
          <p:cNvPr id="18507992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Font typeface="Arial"/>
              <a:buChar char="•"/>
              <a:defRPr/>
            </a:pPr>
            <a:r>
              <a:rPr lang="fr-FR" dirty="0"/>
              <a:t>Group follow =&gt; altitude = note </a:t>
            </a:r>
            <a:r>
              <a:rPr lang="fr-FR" dirty="0" err="1"/>
              <a:t>height</a:t>
            </a:r>
            <a:endParaRPr lang="fr-FR" dirty="0"/>
          </a:p>
          <a:p>
            <a:pPr lvl="0">
              <a:buFont typeface="Arial"/>
              <a:buChar char="•"/>
              <a:defRPr/>
            </a:pPr>
            <a:r>
              <a:rPr lang="fr-FR" dirty="0" err="1"/>
              <a:t>Same</a:t>
            </a:r>
            <a:r>
              <a:rPr lang="fr-FR" dirty="0"/>
              <a:t> midi =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birds</a:t>
            </a:r>
            <a:endParaRPr lang="fr-CH" dirty="0"/>
          </a:p>
        </p:txBody>
      </p:sp>
      <p:sp>
        <p:nvSpPr>
          <p:cNvPr id="114309485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679027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11523958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17785092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22709377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867487" y="1639559"/>
            <a:ext cx="6106635" cy="15764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CH" b="1" dirty="0" err="1"/>
              <a:t>Snowflake</a:t>
            </a:r>
            <a:r>
              <a:rPr lang="fr-CH" dirty="0"/>
              <a:t> ➔ </a:t>
            </a:r>
            <a:r>
              <a:rPr lang="fr-CH" b="1" dirty="0"/>
              <a:t>Center</a:t>
            </a:r>
            <a:r>
              <a:rPr lang="fr-CH" dirty="0"/>
              <a:t> + (6 × </a:t>
            </a:r>
            <a:r>
              <a:rPr lang="fr-CH" b="1" dirty="0"/>
              <a:t>Branch</a:t>
            </a:r>
            <a:r>
              <a:rPr lang="fr-CH" dirty="0"/>
              <a:t>)</a:t>
            </a:r>
          </a:p>
          <a:p>
            <a:pPr lvl="0"/>
            <a:r>
              <a:rPr lang="fr-CH" b="1" dirty="0"/>
              <a:t>Branch</a:t>
            </a:r>
            <a:r>
              <a:rPr lang="fr-CH" dirty="0"/>
              <a:t> ➔ </a:t>
            </a:r>
            <a:r>
              <a:rPr lang="fr-CH" b="1" dirty="0"/>
              <a:t>Segment</a:t>
            </a:r>
            <a:r>
              <a:rPr lang="fr-CH" dirty="0"/>
              <a:t> OR (</a:t>
            </a:r>
            <a:r>
              <a:rPr lang="fr-CH" b="1" dirty="0"/>
              <a:t>Segment</a:t>
            </a:r>
            <a:r>
              <a:rPr lang="fr-CH" dirty="0"/>
              <a:t> + </a:t>
            </a:r>
            <a:r>
              <a:rPr lang="fr-CH" b="1" dirty="0"/>
              <a:t>Branch</a:t>
            </a:r>
            <a:r>
              <a:rPr lang="fr-CH" dirty="0"/>
              <a:t>)</a:t>
            </a:r>
          </a:p>
          <a:p>
            <a:pPr lvl="0"/>
            <a:r>
              <a:rPr lang="fr-CH" b="1" dirty="0"/>
              <a:t>Segment</a:t>
            </a:r>
            <a:r>
              <a:rPr lang="fr-CH" dirty="0"/>
              <a:t> ➔ </a:t>
            </a:r>
            <a:r>
              <a:rPr lang="fr-CH" b="1" dirty="0"/>
              <a:t>Line</a:t>
            </a:r>
            <a:r>
              <a:rPr lang="fr-CH" dirty="0"/>
              <a:t> + </a:t>
            </a:r>
            <a:r>
              <a:rPr lang="fr-CH" b="1" dirty="0" err="1"/>
              <a:t>Decoration</a:t>
            </a:r>
            <a:endParaRPr lang="fr-CH" dirty="0"/>
          </a:p>
          <a:p>
            <a:pPr lvl="0"/>
            <a:r>
              <a:rPr lang="fr-CH" b="1" dirty="0"/>
              <a:t>Center</a:t>
            </a:r>
            <a:r>
              <a:rPr lang="fr-CH" dirty="0"/>
              <a:t> ➔ "</a:t>
            </a:r>
            <a:r>
              <a:rPr lang="fr-CH" dirty="0" err="1"/>
              <a:t>Hexagon</a:t>
            </a:r>
            <a:r>
              <a:rPr lang="fr-CH" dirty="0"/>
              <a:t>" OR "</a:t>
            </a:r>
            <a:r>
              <a:rPr lang="fr-CH" dirty="0" err="1"/>
              <a:t>Empty</a:t>
            </a:r>
            <a:r>
              <a:rPr lang="fr-CH" dirty="0"/>
              <a:t>"</a:t>
            </a:r>
          </a:p>
          <a:p>
            <a:pPr lvl="0"/>
            <a:r>
              <a:rPr lang="fr-CH" b="1" dirty="0" err="1"/>
              <a:t>Decoration</a:t>
            </a:r>
            <a:r>
              <a:rPr lang="fr-CH" dirty="0"/>
              <a:t> ➔ "V-Shape" OR "Diamond" OR "</a:t>
            </a:r>
            <a:r>
              <a:rPr lang="fr-CH" dirty="0" err="1"/>
              <a:t>Empty</a:t>
            </a:r>
            <a:r>
              <a:rPr lang="fr-CH" dirty="0"/>
              <a:t>"</a:t>
            </a:r>
          </a:p>
        </p:txBody>
      </p:sp>
      <p:sp>
        <p:nvSpPr>
          <p:cNvPr id="45267299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0539739" name="Google Shape;1250;p33"/>
          <p:cNvSpPr txBox="1"/>
          <p:nvPr/>
        </p:nvSpPr>
        <p:spPr bwMode="auto">
          <a:xfrm>
            <a:off x="614730" y="981117"/>
            <a:ext cx="6191651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CH" sz="2400" b="1" dirty="0" err="1"/>
              <a:t>Ravaka</a:t>
            </a:r>
            <a:endParaRPr lang="fr-CH" sz="2400" dirty="0"/>
          </a:p>
        </p:txBody>
      </p:sp>
      <p:sp>
        <p:nvSpPr>
          <p:cNvPr id="1388944154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225929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5952258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55836106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476791021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98903339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81589321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66119827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grpSp>
        <p:nvGrpSpPr>
          <p:cNvPr id="1104493523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67125325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353676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90800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546720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195743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8366883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28812064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 dirty="0"/>
          </a:p>
        </p:txBody>
      </p:sp>
      <p:sp>
        <p:nvSpPr>
          <p:cNvPr id="301007327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340642345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9938754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93075858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72759777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2323688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1814521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5400003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7425828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3229922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4394934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41053681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663192405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  <p:sp>
        <p:nvSpPr>
          <p:cNvPr id="1992344528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20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728</Words>
  <Application>Microsoft Office PowerPoint</Application>
  <PresentationFormat>Affichage à l'écran (16:9)</PresentationFormat>
  <Paragraphs>146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Abel</vt:lpstr>
      <vt:lpstr>Abhaya Libre</vt:lpstr>
      <vt:lpstr>Arial</vt:lpstr>
      <vt:lpstr>Bakbak One</vt:lpstr>
      <vt:lpstr>Wingdings</vt:lpstr>
      <vt:lpstr>Railroad Minitheme by Slidesgo</vt:lpstr>
      <vt:lpstr>RailBeat  Summer School</vt:lpstr>
      <vt:lpstr>Technial presentation</vt:lpstr>
      <vt:lpstr>Technical</vt:lpstr>
      <vt:lpstr>Technical</vt:lpstr>
      <vt:lpstr>Technical</vt:lpstr>
      <vt:lpstr>Technical</vt:lpstr>
      <vt:lpstr>Sounds analysis</vt:lpstr>
      <vt:lpstr>Technical</vt:lpstr>
      <vt:lpstr>Sounds analysis</vt:lpstr>
      <vt:lpstr>Managerial presentation</vt:lpstr>
      <vt:lpstr>Présentation PowerPoint</vt:lpstr>
      <vt:lpstr>Managerial presentation</vt:lpstr>
      <vt:lpstr>Présentation PowerPoint</vt:lpstr>
      <vt:lpstr>Managerial presentation</vt:lpstr>
      <vt:lpstr>Students contribution</vt:lpstr>
      <vt:lpstr>Animation</vt:lpstr>
      <vt:lpstr>Animation</vt:lpstr>
      <vt:lpstr>Animation</vt:lpstr>
      <vt:lpstr>Animation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100</cp:revision>
  <dcterms:modified xsi:type="dcterms:W3CDTF">2026-09-02T12:00:36Z</dcterms:modified>
</cp:coreProperties>
</file>