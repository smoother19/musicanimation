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63" r:id="rId10"/>
    <p:sldId id="264" r:id="rId11"/>
    <p:sldId id="265" r:id="rId12"/>
    <p:sldId id="266" r:id="rId13"/>
    <p:sldId id="267" r:id="rId14"/>
    <p:sldId id="274" r:id="rId15"/>
    <p:sldId id="269" r:id="rId16"/>
    <p:sldId id="270" r:id="rId17"/>
    <p:sldId id="275" r:id="rId18"/>
    <p:sldId id="277" r:id="rId19"/>
    <p:sldId id="271" r:id="rId20"/>
    <p:sldId id="268" r:id="rId21"/>
    <p:sldId id="272" r:id="rId22"/>
  </p:sldIdLst>
  <p:sldSz cx="9144000" cy="5143500" type="screen16x9"/>
  <p:notesSz cx="6858000" cy="9144000"/>
  <p:embeddedFontLst>
    <p:embeddedFont>
      <p:font typeface="Abel" panose="02000506030000020004" pitchFamily="2" charset="0"/>
      <p:regular r:id="rId24"/>
    </p:embeddedFont>
    <p:embeddedFont>
      <p:font typeface="Cambria Math" panose="02040503050406030204" pitchFamily="18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63" y="99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599452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1707355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822398" name="Google Shape;1092;g18a80d34a48_2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2957812" name="Google Shape;1093;g18a80d34a48_2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304259" name="Google Shape;1211;g15207a17831_0_14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940421" name="Google Shape;1212;g15207a17831_0_14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7250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043344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751598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82262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375588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900809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631561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7329648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B662C42-B8A0-0164-5A63-4CB9E2EE278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>
            <a:extLst>
              <a:ext uri="{FF2B5EF4-FFF2-40B4-BE49-F238E27FC236}">
                <a16:creationId xmlns:a16="http://schemas.microsoft.com/office/drawing/2014/main" id="{B5FFA89B-77F2-7B27-8F78-1F6CA9142E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>
            <a:extLst>
              <a:ext uri="{FF2B5EF4-FFF2-40B4-BE49-F238E27FC236}">
                <a16:creationId xmlns:a16="http://schemas.microsoft.com/office/drawing/2014/main" id="{863636BA-1402-B629-E30C-BF4A13702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736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5550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262845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8457792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071676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The train isn’t draw but described, he can be nuild with a seed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I use a trivial grammar system to build it =&gt; a train is only a locomotive with several wagons choose between 5 types of différents probalities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The train can move forward or backward depending of it’s acceleration =&gt; I use this when I have more/less notes incoming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A smoke system is used with the train to add more animation (not sync with the music for the moment)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fr-F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36463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574873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- Whole visual is in triangle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Base class TriangularShape =&gt; which trangles am I made of ? (list_triangles)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Derived Shapes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Composition to move shapes =&gt; Group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642730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7720450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307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/>
                        <a:ea typeface="Arial"/>
                        <a:cs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Choice>
        <mc:Fallback xmlns="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1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/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 𝑔𝑡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^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</a:t>
                </a:r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Fallback>
      </mc:AlternateContent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46D912-C2F9-2C57-D715-E326F25126D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3079" name="Google Shape;1244;g152a7caf94b_1_413:notes">
            <a:extLst>
              <a:ext uri="{FF2B5EF4-FFF2-40B4-BE49-F238E27FC236}">
                <a16:creationId xmlns:a16="http://schemas.microsoft.com/office/drawing/2014/main" id="{B63924BF-AB9A-F008-6184-38BB209D6B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6391637" name="Google Shape;1245;g152a7caf94b_1_413:notes">
                <a:extLst>
                  <a:ext uri="{FF2B5EF4-FFF2-40B4-BE49-F238E27FC236}">
                    <a16:creationId xmlns:a16="http://schemas.microsoft.com/office/drawing/2014/main" id="{422248AA-CBB9-0421-7170-C4A18569FB2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/>
                        <a:ea typeface="Arial"/>
                        <a:cs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Choice>
        <mc:Fallback xmlns="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1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/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 𝑔𝑡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^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</a:t>
                </a:r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82652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783080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780060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757DB6B-B58B-D601-8D74-32C2870C9DA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>
            <a:extLst>
              <a:ext uri="{FF2B5EF4-FFF2-40B4-BE49-F238E27FC236}">
                <a16:creationId xmlns:a16="http://schemas.microsoft.com/office/drawing/2014/main" id="{A7D1A78F-2E80-3BE0-0F18-77F8B1F65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>
            <a:extLst>
              <a:ext uri="{FF2B5EF4-FFF2-40B4-BE49-F238E27FC236}">
                <a16:creationId xmlns:a16="http://schemas.microsoft.com/office/drawing/2014/main" id="{652DC50F-F017-4570-73DB-CBB17BACACB7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6006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7E93F46-265B-C543-A007-9D6F88C008E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>
            <a:extLst>
              <a:ext uri="{FF2B5EF4-FFF2-40B4-BE49-F238E27FC236}">
                <a16:creationId xmlns:a16="http://schemas.microsoft.com/office/drawing/2014/main" id="{409EBBB7-2B19-BCD1-BBBF-B26ACE487F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>
            <a:extLst>
              <a:ext uri="{FF2B5EF4-FFF2-40B4-BE49-F238E27FC236}">
                <a16:creationId xmlns:a16="http://schemas.microsoft.com/office/drawing/2014/main" id="{772F2768-4FDE-25EB-DB9D-B51D1430E2B3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23279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8148513" name="Google Shape;1196;g15207a17831_0_17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5549038" name="Google Shape;1197;g15207a17831_0_17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241783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310806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779758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3910099" name="Google Shape;2297;g152a7caf94b_1_277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76162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233653249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231187517" name="Google Shape;11;p2"/>
          <p:cNvSpPr/>
          <p:nvPr/>
        </p:nvSpPr>
        <p:spPr bwMode="auto"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262204" name="Google Shape;12;p2"/>
          <p:cNvSpPr/>
          <p:nvPr/>
        </p:nvSpPr>
        <p:spPr bwMode="auto"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518647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943674880" name="Google Shape;15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491062397" name="Google Shape;16;p3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07370074" name="Google Shape;17;p3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536210" name="Google Shape;44;p6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318378796" name="Google Shape;45;p6"/>
          <p:cNvGrpSpPr/>
          <p:nvPr/>
        </p:nvGrpSpPr>
        <p:grpSpPr bwMode="auto"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1888316931" name="Google Shape;59;p6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87560492" name="Google Shape;60;p6"/>
          <p:cNvSpPr/>
          <p:nvPr/>
        </p:nvSpPr>
        <p:spPr bwMode="auto"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519839" name="Google Shape;247;p9"/>
          <p:cNvSpPr txBox="1">
            <a:spLocks noGrp="1"/>
          </p:cNvSpPr>
          <p:nvPr>
            <p:ph type="title"/>
          </p:nvPr>
        </p:nvSpPr>
        <p:spPr bwMode="auto"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103355355" name="Google Shape;248;p9"/>
          <p:cNvSpPr txBox="1">
            <a:spLocks noGrp="1"/>
          </p:cNvSpPr>
          <p:nvPr>
            <p:ph type="subTitle" idx="1"/>
          </p:nvPr>
        </p:nvSpPr>
        <p:spPr bwMode="auto"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650675672" name="Google Shape;249;p9"/>
          <p:cNvSpPr/>
          <p:nvPr/>
        </p:nvSpPr>
        <p:spPr bwMode="auto"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84965917" name="Google Shape;250;p9"/>
          <p:cNvSpPr/>
          <p:nvPr/>
        </p:nvSpPr>
        <p:spPr bwMode="auto"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30161109" name="Google Shape;251;p9"/>
          <p:cNvSpPr/>
          <p:nvPr/>
        </p:nvSpPr>
        <p:spPr bwMode="auto"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0430587" name="Google Shape;252;p9"/>
          <p:cNvSpPr/>
          <p:nvPr/>
        </p:nvSpPr>
        <p:spPr bwMode="auto"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34925073" name="Google Shape;253;p9"/>
          <p:cNvSpPr/>
          <p:nvPr/>
        </p:nvSpPr>
        <p:spPr bwMode="auto">
          <a:xfrm>
            <a:off x="3559000" y="3196325"/>
            <a:ext cx="6828924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88400849" name="Google Shape;254;p9"/>
          <p:cNvSpPr/>
          <p:nvPr/>
        </p:nvSpPr>
        <p:spPr bwMode="auto"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44082402" name="Google Shape;255;p9"/>
          <p:cNvSpPr/>
          <p:nvPr/>
        </p:nvSpPr>
        <p:spPr bwMode="auto"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11382093" name="Google Shape;256;p9"/>
          <p:cNvSpPr/>
          <p:nvPr/>
        </p:nvSpPr>
        <p:spPr bwMode="auto"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785696" name="Google Shape;257;p9"/>
          <p:cNvSpPr/>
          <p:nvPr/>
        </p:nvSpPr>
        <p:spPr bwMode="auto"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4354668" name="Google Shape;258;p9"/>
          <p:cNvSpPr/>
          <p:nvPr/>
        </p:nvSpPr>
        <p:spPr bwMode="auto"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0255051" name="Google Shape;259;p9"/>
          <p:cNvSpPr/>
          <p:nvPr/>
        </p:nvSpPr>
        <p:spPr bwMode="auto"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68012858" name="Google Shape;260;p9"/>
          <p:cNvSpPr/>
          <p:nvPr/>
        </p:nvSpPr>
        <p:spPr bwMode="auto"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7040447" name="Google Shape;261;p9"/>
          <p:cNvSpPr/>
          <p:nvPr/>
        </p:nvSpPr>
        <p:spPr bwMode="auto">
          <a:xfrm>
            <a:off x="1582074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20335178" name="Google Shape;262;p9"/>
          <p:cNvSpPr/>
          <p:nvPr/>
        </p:nvSpPr>
        <p:spPr bwMode="auto"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33104800" name="Google Shape;263;p9"/>
          <p:cNvGrpSpPr/>
          <p:nvPr/>
        </p:nvGrpSpPr>
        <p:grpSpPr bwMode="auto"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 bwMode="auto"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 bwMode="auto"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 bwMode="auto"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 bwMode="auto"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 bwMode="auto">
                  <a:xfrm rot="5400000">
                    <a:off x="-497049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 bwMode="auto"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 bwMode="auto"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 bwMode="auto"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 bwMode="auto"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 bwMode="auto"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 bwMode="auto"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 bwMode="auto"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 bwMode="auto"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 bwMode="auto"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 bwMode="auto"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 bwMode="auto"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 bwMode="auto"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 bwMode="auto"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 bwMode="auto"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 bwMode="auto"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 bwMode="auto"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 bwMode="auto"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 bwMode="auto">
            <a:xfrm>
              <a:off x="6356774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 bwMode="auto"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 bwMode="auto"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 bwMode="auto"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 bwMode="auto"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 bwMode="auto"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 bwMode="auto"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 bwMode="auto"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 bwMode="auto"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26287688" name="Google Shape;295;p9"/>
          <p:cNvGrpSpPr/>
          <p:nvPr/>
        </p:nvGrpSpPr>
        <p:grpSpPr bwMode="auto"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 bwMode="auto"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 bwMode="auto"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 bwMode="auto"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 bwMode="auto"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 bwMode="auto"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 bwMode="auto"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 bwMode="auto"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 bwMode="auto">
            <a:xfrm>
              <a:off x="1512324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 bwMode="auto"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 bwMode="auto"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 bwMode="auto"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 bwMode="auto"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 bwMode="auto">
            <a:xfrm>
              <a:off x="2384450" y="4072199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 bwMode="auto"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 bwMode="auto"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 bwMode="auto"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 bwMode="auto"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 bwMode="auto"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 bwMode="auto"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 bwMode="auto"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 bwMode="auto"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 bwMode="auto"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 bwMode="auto"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 bwMode="auto"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 bwMode="auto"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 bwMode="auto"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 bwMode="auto">
            <a:xfrm>
              <a:off x="2911650" y="4871450"/>
              <a:ext cx="20799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 bwMode="auto"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2063970616" name="Google Shape;324;p9"/>
          <p:cNvGrpSpPr/>
          <p:nvPr/>
        </p:nvGrpSpPr>
        <p:grpSpPr bwMode="auto"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812266906" name="Google Shape;344;p9"/>
          <p:cNvSpPr/>
          <p:nvPr/>
        </p:nvSpPr>
        <p:spPr bwMode="auto">
          <a:xfrm>
            <a:off x="1582074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3929314" name="Google Shape;345;p9"/>
          <p:cNvSpPr/>
          <p:nvPr/>
        </p:nvSpPr>
        <p:spPr bwMode="auto"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50021032" name="Google Shape;346;p9"/>
          <p:cNvSpPr/>
          <p:nvPr/>
        </p:nvSpPr>
        <p:spPr bwMode="auto"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able of contents" userDrawn="1">
  <p:cSld name="CUSTOM_26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039767" name="Google Shape;383;p13"/>
          <p:cNvSpPr txBox="1">
            <a:spLocks noGrp="1"/>
          </p:cNvSpPr>
          <p:nvPr>
            <p:ph type="title" hasCustomPrompt="1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590713534" name="Google Shape;384;p13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8854210" name="Google Shape;385;p13"/>
          <p:cNvSpPr txBox="1">
            <a:spLocks noGrp="1"/>
          </p:cNvSpPr>
          <p:nvPr>
            <p:ph type="subTitle" idx="2"/>
          </p:nvPr>
        </p:nvSpPr>
        <p:spPr bwMode="auto"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112582238" name="Google Shape;386;p13"/>
          <p:cNvSpPr txBox="1">
            <a:spLocks noGrp="1"/>
          </p:cNvSpPr>
          <p:nvPr>
            <p:ph type="title" idx="3" hasCustomPrompt="1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2067489893" name="Google Shape;387;p13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93722804" name="Google Shape;388;p13"/>
          <p:cNvSpPr txBox="1">
            <a:spLocks noGrp="1"/>
          </p:cNvSpPr>
          <p:nvPr>
            <p:ph type="subTitle" idx="5"/>
          </p:nvPr>
        </p:nvSpPr>
        <p:spPr bwMode="auto"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02215622" name="Google Shape;389;p13"/>
          <p:cNvSpPr txBox="1">
            <a:spLocks noGrp="1"/>
          </p:cNvSpPr>
          <p:nvPr>
            <p:ph type="title" idx="6" hasCustomPrompt="1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574245337" name="Google Shape;390;p13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94128185" name="Google Shape;391;p13"/>
          <p:cNvSpPr txBox="1">
            <a:spLocks noGrp="1"/>
          </p:cNvSpPr>
          <p:nvPr>
            <p:ph type="subTitle" idx="8"/>
          </p:nvPr>
        </p:nvSpPr>
        <p:spPr bwMode="auto"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902238155" name="Google Shape;392;p13"/>
          <p:cNvSpPr txBox="1">
            <a:spLocks noGrp="1"/>
          </p:cNvSpPr>
          <p:nvPr>
            <p:ph type="title" idx="9" hasCustomPrompt="1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613776666" name="Google Shape;393;p13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8296136" name="Google Shape;394;p13"/>
          <p:cNvSpPr txBox="1">
            <a:spLocks noGrp="1"/>
          </p:cNvSpPr>
          <p:nvPr>
            <p:ph type="subTitle" idx="14"/>
          </p:nvPr>
        </p:nvSpPr>
        <p:spPr bwMode="auto"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944953562" name="Google Shape;395;p13"/>
          <p:cNvSpPr txBox="1">
            <a:spLocks noGrp="1"/>
          </p:cNvSpPr>
          <p:nvPr>
            <p:ph type="title" idx="15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30897292" name="Google Shape;396;p13"/>
          <p:cNvSpPr/>
          <p:nvPr/>
        </p:nvSpPr>
        <p:spPr bwMode="auto"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3787899" name="Google Shape;397;p13"/>
          <p:cNvSpPr/>
          <p:nvPr/>
        </p:nvSpPr>
        <p:spPr bwMode="auto"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40373951" name="Google Shape;398;p13"/>
          <p:cNvSpPr/>
          <p:nvPr/>
        </p:nvSpPr>
        <p:spPr bwMode="auto"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4689875" name="Google Shape;399;p13"/>
          <p:cNvSpPr/>
          <p:nvPr/>
        </p:nvSpPr>
        <p:spPr bwMode="auto"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70463461" name="Google Shape;400;p13"/>
          <p:cNvGrpSpPr/>
          <p:nvPr/>
        </p:nvGrpSpPr>
        <p:grpSpPr bwMode="auto"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 bwMode="auto"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 bwMode="auto"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 bwMode="auto"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 bwMode="auto"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 bwMode="auto"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 bwMode="auto"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 bwMode="auto"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 bwMode="auto">
            <a:xfrm>
              <a:off x="1393673" y="4141774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 bwMode="auto"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 bwMode="auto"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 bwMode="auto"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 bwMode="auto"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 bwMode="auto"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 bwMode="auto"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 bwMode="auto"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 bwMode="auto"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 bwMode="auto"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 bwMode="auto"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 bwMode="auto"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 bwMode="auto"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 bwMode="auto"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 bwMode="auto"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 bwMode="auto"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 bwMode="auto"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 bwMode="auto"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 bwMode="auto"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 bwMode="auto"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 bwMode="auto"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 bwMode="auto"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 bwMode="auto"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 bwMode="auto"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 bwMode="auto"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 bwMode="auto"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 bwMode="auto"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 bwMode="auto"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 bwMode="auto"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 bwMode="auto"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 bwMode="auto"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 bwMode="auto"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 bwMode="auto"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 bwMode="auto"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 bwMode="auto">
            <a:xfrm>
              <a:off x="8580773" y="3907949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 bwMode="auto"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603616212" name="Google Shape;444;p13"/>
          <p:cNvSpPr/>
          <p:nvPr/>
        </p:nvSpPr>
        <p:spPr bwMode="auto">
          <a:xfrm>
            <a:off x="5304437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102480166" name="Google Shape;445;p13"/>
          <p:cNvGrpSpPr/>
          <p:nvPr/>
        </p:nvGrpSpPr>
        <p:grpSpPr bwMode="auto"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 bwMode="auto"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 bwMode="auto"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 bwMode="auto"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 3" userDrawn="1">
  <p:cSld name="TITLE_ONLY_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476014" name="Google Shape;496;p16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80688009" name="Google Shape;497;p16"/>
          <p:cNvSpPr/>
          <p:nvPr/>
        </p:nvSpPr>
        <p:spPr bwMode="auto"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2833363" name="Google Shape;498;p16"/>
          <p:cNvSpPr/>
          <p:nvPr/>
        </p:nvSpPr>
        <p:spPr bwMode="auto"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2477888" name="Google Shape;499;p16"/>
          <p:cNvSpPr/>
          <p:nvPr/>
        </p:nvSpPr>
        <p:spPr bwMode="auto"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95657882" name="Google Shape;500;p16"/>
          <p:cNvGrpSpPr/>
          <p:nvPr/>
        </p:nvGrpSpPr>
        <p:grpSpPr bwMode="auto">
          <a:xfrm>
            <a:off x="-2311315" y="4713377"/>
            <a:ext cx="11543197" cy="859072"/>
            <a:chOff x="238675" y="2497700"/>
            <a:chExt cx="7138649" cy="531275"/>
          </a:xfrm>
        </p:grpSpPr>
        <p:sp>
          <p:nvSpPr>
            <p:cNvPr id="501" name="Google Shape;501;p16"/>
            <p:cNvSpPr/>
            <p:nvPr/>
          </p:nvSpPr>
          <p:spPr bwMode="auto">
            <a:xfrm>
              <a:off x="238675" y="2497700"/>
              <a:ext cx="7138649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 bwMode="auto">
            <a:xfrm>
              <a:off x="238675" y="2565600"/>
              <a:ext cx="7138649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85328703" name="Google Shape;503;p16"/>
          <p:cNvSpPr/>
          <p:nvPr/>
        </p:nvSpPr>
        <p:spPr bwMode="auto"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19270580" name="Google Shape;504;p16"/>
          <p:cNvGrpSpPr/>
          <p:nvPr/>
        </p:nvGrpSpPr>
        <p:grpSpPr bwMode="auto">
          <a:xfrm>
            <a:off x="1058800" y="4136600"/>
            <a:ext cx="2419653" cy="571601"/>
            <a:chOff x="3962175" y="2857795"/>
            <a:chExt cx="3075700" cy="726579"/>
          </a:xfrm>
        </p:grpSpPr>
        <p:sp>
          <p:nvSpPr>
            <p:cNvPr id="505" name="Google Shape;505;p1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hanks" userDrawn="1">
  <p:cSld name="CUSTOM_12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459983" name="Google Shape;944;p24"/>
          <p:cNvSpPr txBox="1">
            <a:spLocks noGrp="1"/>
          </p:cNvSpPr>
          <p:nvPr>
            <p:ph type="subTitle" idx="1"/>
          </p:nvPr>
        </p:nvSpPr>
        <p:spPr bwMode="auto"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550498307" name="Google Shape;945;p24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2929066" name="Google Shape;946;p24"/>
          <p:cNvSpPr/>
          <p:nvPr/>
        </p:nvSpPr>
        <p:spPr bwMode="auto"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0586921" name="Google Shape;947;p24"/>
          <p:cNvSpPr txBox="1"/>
          <p:nvPr/>
        </p:nvSpPr>
        <p:spPr bwMode="auto"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including icons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3"/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4"/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CUSTOM_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685993" name="Google Shape;949;p25"/>
          <p:cNvSpPr/>
          <p:nvPr/>
        </p:nvSpPr>
        <p:spPr bwMode="auto"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48954825" name="Google Shape;950;p25"/>
          <p:cNvSpPr/>
          <p:nvPr/>
        </p:nvSpPr>
        <p:spPr bwMode="auto"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0387790" name="Google Shape;951;p25"/>
          <p:cNvSpPr/>
          <p:nvPr/>
        </p:nvSpPr>
        <p:spPr bwMode="auto"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5437071" name="Google Shape;952;p25"/>
          <p:cNvSpPr/>
          <p:nvPr/>
        </p:nvSpPr>
        <p:spPr bwMode="auto"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576626748" name="Google Shape;953;p25"/>
          <p:cNvGrpSpPr/>
          <p:nvPr/>
        </p:nvGrpSpPr>
        <p:grpSpPr bwMode="auto">
          <a:xfrm>
            <a:off x="-139347" y="3868275"/>
            <a:ext cx="9276783" cy="1398671"/>
            <a:chOff x="-139347" y="3868275"/>
            <a:chExt cx="9276783" cy="1398671"/>
          </a:xfrm>
        </p:grpSpPr>
        <p:sp>
          <p:nvSpPr>
            <p:cNvPr id="954" name="Google Shape;954;p25"/>
            <p:cNvSpPr/>
            <p:nvPr/>
          </p:nvSpPr>
          <p:spPr bwMode="auto">
            <a:xfrm flipH="1">
              <a:off x="-139347" y="4015425"/>
              <a:ext cx="9276771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 bwMode="auto"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 bwMode="auto">
              <a:xfrm>
                <a:off x="6638024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 bwMode="auto"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 bwMode="auto"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 bwMode="auto"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 bwMode="auto"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 bwMode="auto"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 bwMode="auto"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 bwMode="auto"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 bwMode="auto"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 bwMode="auto">
              <a:xfrm>
                <a:off x="1393673" y="4141774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 bwMode="auto"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 bwMode="auto"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 bwMode="auto"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 bwMode="auto"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 bwMode="auto"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 bwMode="auto"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 bwMode="auto"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 bwMode="auto"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 bwMode="auto"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 bwMode="auto"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 bwMode="auto"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 bwMode="auto"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 bwMode="auto"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 bwMode="auto"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 bwMode="auto"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 bwMode="auto"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 bwMode="auto"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 bwMode="auto"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 bwMode="auto"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 bwMode="auto"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 bwMode="auto"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 bwMode="auto"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 bwMode="auto"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 bwMode="auto"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 bwMode="auto"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 bwMode="auto"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 bwMode="auto"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 bwMode="auto"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 bwMode="auto"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 bwMode="auto"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 bwMode="auto"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 bwMode="auto"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 bwMode="auto"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 bwMode="auto">
              <a:xfrm>
                <a:off x="8580773" y="3907949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 bwMode="auto"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 bwMode="auto"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 bwMode="auto"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 bwMode="auto"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 bwMode="auto"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 bwMode="auto"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 bwMode="auto"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 bwMode="auto"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77232124" name="Google Shape;1022;p25"/>
          <p:cNvGrpSpPr/>
          <p:nvPr/>
        </p:nvGrpSpPr>
        <p:grpSpPr bwMode="auto">
          <a:xfrm rot="127888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049244035" name="Google Shape;1042;p25"/>
          <p:cNvSpPr/>
          <p:nvPr/>
        </p:nvSpPr>
        <p:spPr bwMode="auto"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24669342" name="Google Shape;1043;p25"/>
          <p:cNvSpPr/>
          <p:nvPr/>
        </p:nvSpPr>
        <p:spPr bwMode="auto"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44570" name="Google Shape;1044;p25"/>
          <p:cNvSpPr/>
          <p:nvPr/>
        </p:nvSpPr>
        <p:spPr bwMode="auto"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2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36081" name="Google Shape;1046;p26"/>
          <p:cNvSpPr/>
          <p:nvPr/>
        </p:nvSpPr>
        <p:spPr bwMode="auto"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007538" name="Google Shape;1047;p26"/>
          <p:cNvSpPr/>
          <p:nvPr/>
        </p:nvSpPr>
        <p:spPr bwMode="auto"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04383508" name="Google Shape;1048;p26"/>
          <p:cNvSpPr/>
          <p:nvPr/>
        </p:nvSpPr>
        <p:spPr bwMode="auto"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4679646" name="Google Shape;1049;p26"/>
          <p:cNvSpPr/>
          <p:nvPr/>
        </p:nvSpPr>
        <p:spPr bwMode="auto"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76882811" name="Google Shape;1050;p26"/>
          <p:cNvGrpSpPr/>
          <p:nvPr/>
        </p:nvGrpSpPr>
        <p:grpSpPr bwMode="auto"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465047028" name="Google Shape;1070;p26"/>
          <p:cNvGrpSpPr/>
          <p:nvPr/>
        </p:nvGrpSpPr>
        <p:grpSpPr bwMode="auto"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989754516" name="Google Shape;1084;p26"/>
          <p:cNvSpPr/>
          <p:nvPr/>
        </p:nvSpPr>
        <p:spPr bwMode="auto"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28664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0436074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285094" name="Google Shape;1095;p30"/>
          <p:cNvSpPr/>
          <p:nvPr/>
        </p:nvSpPr>
        <p:spPr bwMode="auto"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0688363" name="Google Shape;1096;p30"/>
          <p:cNvSpPr/>
          <p:nvPr/>
        </p:nvSpPr>
        <p:spPr bwMode="auto"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48909619" name="Google Shape;1097;p30"/>
          <p:cNvSpPr/>
          <p:nvPr/>
        </p:nvSpPr>
        <p:spPr bwMode="auto"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12875219" name="Google Shape;1098;p30"/>
          <p:cNvGrpSpPr/>
          <p:nvPr/>
        </p:nvGrpSpPr>
        <p:grpSpPr bwMode="auto"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063756107" name="Google Shape;1111;p30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fr-CH" sz="7200" b="1" dirty="0" err="1"/>
              <a:t>RailBeat</a:t>
            </a:r>
            <a:r>
              <a:rPr lang="fr-CH" sz="7200" dirty="0"/>
              <a:t> </a:t>
            </a:r>
            <a:endParaRPr sz="71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i="1" dirty="0">
                <a:solidFill>
                  <a:schemeClr val="accent2"/>
                </a:solidFill>
              </a:rPr>
              <a:t>Summer School</a:t>
            </a:r>
            <a:endParaRPr sz="4500" i="1" dirty="0">
              <a:solidFill>
                <a:schemeClr val="accent2"/>
              </a:solidFill>
            </a:endParaRPr>
          </a:p>
        </p:txBody>
      </p:sp>
      <p:sp>
        <p:nvSpPr>
          <p:cNvPr id="1518328010" name="Google Shape;1112;p30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Alan, Dina, Ravaka, Gabriel</a:t>
            </a:r>
            <a:endParaRPr/>
          </a:p>
        </p:txBody>
      </p:sp>
      <p:grpSp>
        <p:nvGrpSpPr>
          <p:cNvPr id="1323589296" name="Google Shape;1113;p30"/>
          <p:cNvGrpSpPr/>
          <p:nvPr/>
        </p:nvGrpSpPr>
        <p:grpSpPr bwMode="auto"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 bwMode="auto"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 bwMode="auto"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323679028" name="Google Shape;1116;p30"/>
          <p:cNvSpPr/>
          <p:nvPr/>
        </p:nvSpPr>
        <p:spPr bwMode="auto"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01648093" name="Google Shape;1117;p30"/>
          <p:cNvGrpSpPr/>
          <p:nvPr/>
        </p:nvGrpSpPr>
        <p:grpSpPr bwMode="auto"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60931447" name="Google Shape;1137;p30"/>
          <p:cNvSpPr/>
          <p:nvPr/>
        </p:nvSpPr>
        <p:spPr bwMode="auto"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82455537" name="Google Shape;1138;p30"/>
          <p:cNvGrpSpPr/>
          <p:nvPr/>
        </p:nvGrpSpPr>
        <p:grpSpPr bwMode="auto"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 bwMode="auto"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 bwMode="auto"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 bwMode="auto"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 bwMode="auto"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455089362" name="Google Shape;1143;p30"/>
          <p:cNvGrpSpPr/>
          <p:nvPr/>
        </p:nvGrpSpPr>
        <p:grpSpPr bwMode="auto"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 bwMode="auto"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 bwMode="auto"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 bwMode="auto"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 bwMode="auto"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 bwMode="auto"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93854943" name="Google Shape;1149;p30"/>
          <p:cNvGrpSpPr/>
          <p:nvPr/>
        </p:nvGrpSpPr>
        <p:grpSpPr bwMode="auto"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964483026" name="Google Shape;1162;p30"/>
          <p:cNvGrpSpPr/>
          <p:nvPr/>
        </p:nvGrpSpPr>
        <p:grpSpPr bwMode="auto"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 bwMode="auto"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 bwMode="auto"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 bwMode="auto"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 bwMode="auto"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165728818" name="Google Shape;1167;p30"/>
          <p:cNvGrpSpPr/>
          <p:nvPr/>
        </p:nvGrpSpPr>
        <p:grpSpPr bwMode="auto"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84411983" name="Google Shape;1174;p30"/>
          <p:cNvSpPr/>
          <p:nvPr/>
        </p:nvSpPr>
        <p:spPr bwMode="auto"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5455459" name="Google Shape;1175;p30"/>
          <p:cNvSpPr/>
          <p:nvPr/>
        </p:nvSpPr>
        <p:spPr bwMode="auto"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143103" name="Google Shape;1176;p30"/>
          <p:cNvSpPr/>
          <p:nvPr/>
        </p:nvSpPr>
        <p:spPr bwMode="auto"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6320664" name="Google Shape;1177;p30"/>
          <p:cNvSpPr/>
          <p:nvPr/>
        </p:nvSpPr>
        <p:spPr bwMode="auto">
          <a:xfrm>
            <a:off x="6525300" y="4846125"/>
            <a:ext cx="824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99628220" name="Google Shape;1178;p30"/>
          <p:cNvSpPr/>
          <p:nvPr/>
        </p:nvSpPr>
        <p:spPr bwMode="auto"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88783533" name="Google Shape;1179;p30"/>
          <p:cNvSpPr/>
          <p:nvPr/>
        </p:nvSpPr>
        <p:spPr bwMode="auto">
          <a:xfrm>
            <a:off x="6530799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60713951" name="Google Shape;1180;p30"/>
          <p:cNvSpPr/>
          <p:nvPr/>
        </p:nvSpPr>
        <p:spPr bwMode="auto"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68034121" name="Google Shape;1181;p30"/>
          <p:cNvGrpSpPr/>
          <p:nvPr/>
        </p:nvGrpSpPr>
        <p:grpSpPr bwMode="auto"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033115" name="Google Shape;1214;p32"/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76679492" name="Google Shape;1215;p32"/>
          <p:cNvSpPr/>
          <p:nvPr/>
        </p:nvSpPr>
        <p:spPr bwMode="auto"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7504747" name="Google Shape;1216;p32"/>
          <p:cNvSpPr txBox="1">
            <a:spLocks noGrp="1"/>
          </p:cNvSpPr>
          <p:nvPr>
            <p:ph type="title" idx="15"/>
          </p:nvPr>
        </p:nvSpPr>
        <p:spPr bwMode="auto">
          <a:xfrm>
            <a:off x="713225" y="47057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 dirty="0"/>
              <a:t>Summary</a:t>
            </a:r>
            <a:endParaRPr sz="3600" b="1" dirty="0"/>
          </a:p>
        </p:txBody>
      </p:sp>
      <p:sp>
        <p:nvSpPr>
          <p:cNvPr id="1094385928" name="Google Shape;1217;p32"/>
          <p:cNvSpPr txBox="1">
            <a:spLocks noGrp="1"/>
          </p:cNvSpPr>
          <p:nvPr>
            <p:ph type="title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sp>
        <p:nvSpPr>
          <p:cNvPr id="1255792358" name="Google Shape;1218;p32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Sound analysis</a:t>
            </a:r>
            <a:endParaRPr i="1" dirty="0"/>
          </a:p>
        </p:txBody>
      </p:sp>
      <p:sp>
        <p:nvSpPr>
          <p:cNvPr id="1047170882" name="Google Shape;1220;p32"/>
          <p:cNvSpPr txBox="1">
            <a:spLocks noGrp="1"/>
          </p:cNvSpPr>
          <p:nvPr>
            <p:ph type="title" idx="3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sp>
        <p:nvSpPr>
          <p:cNvPr id="1603854174" name="Google Shape;1221;p32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Animation </a:t>
            </a:r>
            <a:endParaRPr i="1" dirty="0"/>
          </a:p>
        </p:txBody>
      </p:sp>
      <p:sp>
        <p:nvSpPr>
          <p:cNvPr id="2001543015" name="Google Shape;1223;p32"/>
          <p:cNvSpPr txBox="1">
            <a:spLocks noGrp="1"/>
          </p:cNvSpPr>
          <p:nvPr>
            <p:ph type="title" idx="6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03</a:t>
            </a:r>
            <a:endParaRPr dirty="0"/>
          </a:p>
        </p:txBody>
      </p:sp>
      <p:sp>
        <p:nvSpPr>
          <p:cNvPr id="1053796061" name="Google Shape;1224;p32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Contrast with plan</a:t>
            </a:r>
            <a:endParaRPr i="1" dirty="0"/>
          </a:p>
        </p:txBody>
      </p:sp>
      <p:sp>
        <p:nvSpPr>
          <p:cNvPr id="2067234354" name="Google Shape;1226;p32"/>
          <p:cNvSpPr txBox="1">
            <a:spLocks noGrp="1"/>
          </p:cNvSpPr>
          <p:nvPr>
            <p:ph type="title" idx="9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sp>
        <p:nvSpPr>
          <p:cNvPr id="1015700547" name="Google Shape;1227;p32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89487"/>
            <a:ext cx="228885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defRPr/>
            </a:pPr>
            <a:r>
              <a:rPr lang="fr-CH" i="1" dirty="0"/>
              <a:t>Showcase </a:t>
            </a:r>
          </a:p>
        </p:txBody>
      </p:sp>
      <p:sp>
        <p:nvSpPr>
          <p:cNvPr id="1936620141" name="Google Shape;1229;p32"/>
          <p:cNvSpPr/>
          <p:nvPr/>
        </p:nvSpPr>
        <p:spPr bwMode="auto">
          <a:xfrm>
            <a:off x="6638024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7153440" name="Google Shape;1230;p32"/>
          <p:cNvSpPr/>
          <p:nvPr/>
        </p:nvSpPr>
        <p:spPr bwMode="auto"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606703" name="Google Shape;1231;p32"/>
          <p:cNvSpPr/>
          <p:nvPr/>
        </p:nvSpPr>
        <p:spPr bwMode="auto"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0403131" name="Google Shape;1232;p32"/>
          <p:cNvSpPr/>
          <p:nvPr/>
        </p:nvSpPr>
        <p:spPr bwMode="auto"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52566719" name="Google Shape;1233;p32"/>
          <p:cNvSpPr/>
          <p:nvPr/>
        </p:nvSpPr>
        <p:spPr bwMode="auto"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333231128" name="Google Shape;1234;p32"/>
          <p:cNvGrpSpPr/>
          <p:nvPr/>
        </p:nvGrpSpPr>
        <p:grpSpPr bwMode="auto"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58620984" name="Google Shape;1241;p32"/>
          <p:cNvSpPr/>
          <p:nvPr/>
        </p:nvSpPr>
        <p:spPr bwMode="auto"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3846706" name="Google Shape;1242;p32"/>
          <p:cNvSpPr/>
          <p:nvPr/>
        </p:nvSpPr>
        <p:spPr bwMode="auto"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748626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5117637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44765605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011003978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835487437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519057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</a:t>
            </a:r>
            <a:br>
              <a:rPr lang="en"/>
            </a:br>
            <a:r>
              <a:rPr lang="en"/>
              <a:t>analysis</a:t>
            </a:r>
            <a:endParaRPr i="1"/>
          </a:p>
        </p:txBody>
      </p:sp>
      <p:sp>
        <p:nvSpPr>
          <p:cNvPr id="13832310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5" y="686500"/>
            <a:ext cx="1512558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01</a:t>
            </a:r>
            <a:endParaRPr dirty="0"/>
          </a:p>
        </p:txBody>
      </p:sp>
      <p:grpSp>
        <p:nvGrpSpPr>
          <p:cNvPr id="1503375970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72162643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492650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13265564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Music analysis</a:t>
            </a:r>
          </a:p>
        </p:txBody>
      </p:sp>
      <p:sp>
        <p:nvSpPr>
          <p:cNvPr id="2015357091" name="ZoneTexte 2015357090"/>
          <p:cNvSpPr txBox="1"/>
          <p:nvPr/>
        </p:nvSpPr>
        <p:spPr bwMode="auto">
          <a:xfrm>
            <a:off x="2591039" y="1840786"/>
            <a:ext cx="5983275" cy="17267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r>
              <a:rPr lang="fr-CH"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TODO THE REST!!</a:t>
            </a: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STFT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"Where is the energy in the frequency domain?"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"Which musical notes are present?"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"What is the pitch of this single sound?"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 err="1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"YIN, but with fewer mistakes."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677599" name="Google Shape;1247;p33"/>
          <p:cNvSpPr/>
          <p:nvPr/>
        </p:nvSpPr>
        <p:spPr bwMode="auto">
          <a:xfrm>
            <a:off x="-1682886" y="1208937"/>
            <a:ext cx="10828624" cy="1112949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6928790" name="Google Shape;1248;p33"/>
          <p:cNvSpPr/>
          <p:nvPr/>
        </p:nvSpPr>
        <p:spPr bwMode="auto">
          <a:xfrm>
            <a:off x="124024" y="580324"/>
            <a:ext cx="2262174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0344464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89" y="295287"/>
            <a:ext cx="5908962" cy="87224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632365674" name="Google Shape;1251;p33"/>
          <p:cNvSpPr/>
          <p:nvPr/>
        </p:nvSpPr>
        <p:spPr bwMode="auto">
          <a:xfrm rot="-2231248" flipH="1">
            <a:off x="3001542" y="964959"/>
            <a:ext cx="240402" cy="114378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278155" name="Google Shape;1250;p33"/>
          <p:cNvSpPr txBox="1"/>
          <p:nvPr/>
        </p:nvSpPr>
        <p:spPr bwMode="auto">
          <a:xfrm>
            <a:off x="614730" y="981117"/>
            <a:ext cx="2448126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Music file to Midi</a:t>
            </a:r>
          </a:p>
          <a:p>
            <a:pPr marL="0" indent="0">
              <a:defRPr/>
            </a:pPr>
            <a:r>
              <a:rPr lang="fr-FR" sz="2400" b="1" i="1"/>
              <a:t>Algorithms</a:t>
            </a:r>
            <a:endParaRPr lang="en" sz="2400" b="1" i="1"/>
          </a:p>
        </p:txBody>
      </p:sp>
      <p:pic>
        <p:nvPicPr>
          <p:cNvPr id="1811285758" name="Image 181128575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789079" y="580324"/>
            <a:ext cx="3254319" cy="2440739"/>
          </a:xfrm>
          <a:prstGeom prst="rect">
            <a:avLst/>
          </a:prstGeom>
        </p:spPr>
      </p:pic>
      <p:pic>
        <p:nvPicPr>
          <p:cNvPr id="1522081535" name="Image 1522081534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823117" y="3107148"/>
            <a:ext cx="3220280" cy="2415210"/>
          </a:xfrm>
          <a:prstGeom prst="rect">
            <a:avLst/>
          </a:prstGeom>
        </p:spPr>
      </p:pic>
      <p:pic>
        <p:nvPicPr>
          <p:cNvPr id="1535073880" name="Image 1535073879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2743472" y="1234821"/>
            <a:ext cx="2935833" cy="2201875"/>
          </a:xfrm>
          <a:prstGeom prst="rect">
            <a:avLst/>
          </a:prstGeom>
        </p:spPr>
      </p:pic>
      <p:pic>
        <p:nvPicPr>
          <p:cNvPr id="1200018018" name="Image 1200018017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77956" y="2998257"/>
            <a:ext cx="2843787" cy="2132840"/>
          </a:xfrm>
          <a:prstGeom prst="rect">
            <a:avLst/>
          </a:prstGeom>
        </p:spPr>
      </p:pic>
      <p:sp>
        <p:nvSpPr>
          <p:cNvPr id="1332855207" name="ZoneTexte 1332855206"/>
          <p:cNvSpPr txBox="1"/>
          <p:nvPr/>
        </p:nvSpPr>
        <p:spPr bwMode="auto">
          <a:xfrm>
            <a:off x="614730" y="2662616"/>
            <a:ext cx="98712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063071052" name="ZoneTexte 1063071051"/>
          <p:cNvSpPr txBox="1"/>
          <p:nvPr/>
        </p:nvSpPr>
        <p:spPr bwMode="auto">
          <a:xfrm>
            <a:off x="3817043" y="3436697"/>
            <a:ext cx="99000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S</a:t>
            </a:r>
            <a:r>
              <a:rPr lang="fr-FR" sz="1600" b="1">
                <a:solidFill>
                  <a:schemeClr val="tx1"/>
                </a:solidFill>
                <a:latin typeface="Abel"/>
                <a:cs typeface="Abel"/>
              </a:rPr>
              <a:t>TFT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168414805" name="ZoneTexte 1168414804"/>
          <p:cNvSpPr txBox="1"/>
          <p:nvPr/>
        </p:nvSpPr>
        <p:spPr bwMode="auto">
          <a:xfrm>
            <a:off x="7190819" y="244684"/>
            <a:ext cx="99288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405376363" name="ZoneTexte 1405376362"/>
          <p:cNvSpPr txBox="1"/>
          <p:nvPr/>
        </p:nvSpPr>
        <p:spPr bwMode="auto">
          <a:xfrm>
            <a:off x="5292636" y="4908926"/>
            <a:ext cx="99324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249087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20474041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938965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013910783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1 bin CQT = 1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halftone 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= 1 MIDI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note if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bins_per_octave=12</a:t>
            </a:r>
            <a:r>
              <a:rPr lang="fr-FR" b="1"/>
              <a:t> </a:t>
            </a:r>
            <a:r>
              <a:rPr lang="fr-FR" b="0"/>
              <a:t>(Default value)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C2 = 65 Hz (fmin)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B8 = 7,9k Hz (fmax)</a:t>
            </a:r>
            <a:endParaRPr b="0"/>
          </a:p>
        </p:txBody>
      </p:sp>
      <p:sp>
        <p:nvSpPr>
          <p:cNvPr id="120162204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9085469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Manage Hz  ranges from midi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9275065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5238542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06903529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89776582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2699509" y="981117"/>
            <a:ext cx="6446228" cy="2486410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2" spcCol="0" rtlCol="0" fromWordArt="0" anchor="t" anchorCtr="0" forceAA="0" compatLnSpc="0">
            <a:noAutofit/>
          </a:bodyPr>
          <a:lstStyle/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Load the audio → mono waveform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Clean it → 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Trim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silence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(-30db)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S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eparate melody from drums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(HPSS)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Find note </a:t>
            </a:r>
            <a:r>
              <a:rPr lang="fr-FR" sz="15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begining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→ detect onsets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Estimate pitch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	One note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→ pYIN gives frequency over time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	Several notes → CQT gives energy per semitone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Convert frequency → MIDI note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Cut the timeline into segments using the onsets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For each segment, pick the active note(s) and create a MIDI event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Write the .mid file</a:t>
            </a:r>
            <a:endParaRPr sz="1500" b="1" dirty="0"/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dirty="0"/>
              <a:t>Done !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157629922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8204211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Translation process</a:t>
            </a:r>
            <a:endParaRPr lang="en" sz="2400" b="1" i="1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D600C61-764F-1295-BD00-C22BFB169E1B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>
            <a:extLst>
              <a:ext uri="{FF2B5EF4-FFF2-40B4-BE49-F238E27FC236}">
                <a16:creationId xmlns:a16="http://schemas.microsoft.com/office/drawing/2014/main" id="{731AB92A-5298-B898-9070-CAADA8027F40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>
            <a:extLst>
              <a:ext uri="{FF2B5EF4-FFF2-40B4-BE49-F238E27FC236}">
                <a16:creationId xmlns:a16="http://schemas.microsoft.com/office/drawing/2014/main" id="{ACCA685B-6BAD-A1AF-1A60-8540B9679B2B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>
            <a:extLst>
              <a:ext uri="{FF2B5EF4-FFF2-40B4-BE49-F238E27FC236}">
                <a16:creationId xmlns:a16="http://schemas.microsoft.com/office/drawing/2014/main" id="{10D9A332-3C7F-FB8E-E3C7-2158338C6CFA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>
            <a:extLst>
              <a:ext uri="{FF2B5EF4-FFF2-40B4-BE49-F238E27FC236}">
                <a16:creationId xmlns:a16="http://schemas.microsoft.com/office/drawing/2014/main" id="{B0E26325-C592-442F-E1B0-2106777DB04B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>
            <a:extLst>
              <a:ext uri="{FF2B5EF4-FFF2-40B4-BE49-F238E27FC236}">
                <a16:creationId xmlns:a16="http://schemas.microsoft.com/office/drawing/2014/main" id="{3D24DA4A-1287-28B7-B3C1-11FFCD1B5E97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lang="en" sz="2400" b="1" i="1" dirty="0"/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26BE98E1-3857-B430-60B1-5724D3F5355D}"/>
              </a:ext>
            </a:extLst>
          </p:cNvPr>
          <p:cNvSpPr txBox="1"/>
          <p:nvPr/>
        </p:nvSpPr>
        <p:spPr bwMode="auto">
          <a:xfrm>
            <a:off x="297590" y="1022149"/>
            <a:ext cx="3755426" cy="947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Detect note and volume</a:t>
            </a:r>
          </a:p>
        </p:txBody>
      </p:sp>
      <p:sp>
        <p:nvSpPr>
          <p:cNvPr id="6" name="Sous-titre 5">
            <a:extLst>
              <a:ext uri="{FF2B5EF4-FFF2-40B4-BE49-F238E27FC236}">
                <a16:creationId xmlns:a16="http://schemas.microsoft.com/office/drawing/2014/main" id="{7BE266A2-5509-944F-1BF2-6CBF9A2533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1616" y="1821346"/>
            <a:ext cx="4151870" cy="2000534"/>
          </a:xfrm>
        </p:spPr>
        <p:txBody>
          <a:bodyPr/>
          <a:lstStyle/>
          <a:p>
            <a:pPr marL="376150" indent="-261850">
              <a:buFont typeface="Arial"/>
              <a:buChar char="•"/>
              <a:defRPr/>
            </a:pPr>
            <a:r>
              <a:rPr lang="fr-CH" sz="1500" dirty="0" err="1"/>
              <a:t>Load</a:t>
            </a:r>
            <a:r>
              <a:rPr lang="fr-CH" sz="1500" dirty="0"/>
              <a:t> MP3</a:t>
            </a:r>
          </a:p>
          <a:p>
            <a:pPr marL="376150" indent="-261850">
              <a:buFont typeface="Arial"/>
              <a:buChar char="•"/>
              <a:defRPr/>
            </a:pPr>
            <a:r>
              <a:rPr lang="fr-CH" sz="1500" dirty="0" err="1"/>
              <a:t>Extract</a:t>
            </a:r>
            <a:r>
              <a:rPr lang="fr-CH" sz="1500" dirty="0"/>
              <a:t> :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/>
              <a:t>Notes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/>
              <a:t>Volume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 err="1"/>
              <a:t>Onsets</a:t>
            </a:r>
            <a:endParaRPr lang="fr-CH" sz="16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22C12DD-F12D-FFA9-F36E-1905A777D450}"/>
              </a:ext>
            </a:extLst>
          </p:cNvPr>
          <p:cNvSpPr txBox="1"/>
          <p:nvPr/>
        </p:nvSpPr>
        <p:spPr>
          <a:xfrm>
            <a:off x="4364544" y="1498181"/>
            <a:ext cx="727195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H" sz="1500" b="1" dirty="0"/>
              <a:t>With </a:t>
            </a:r>
            <a:r>
              <a:rPr lang="fr-CH" sz="1500" b="1" dirty="0" err="1"/>
              <a:t>Librosa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220678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1888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3285903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18568932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23587602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84303494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482046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653058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 i="1"/>
          </a:p>
        </p:txBody>
      </p:sp>
      <p:sp>
        <p:nvSpPr>
          <p:cNvPr id="441673872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grpSp>
        <p:nvGrpSpPr>
          <p:cNvPr id="122460089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415767089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77362715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9920473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3399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921684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742088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356723695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Syncro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Random trains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Can accelerate</a:t>
            </a:r>
            <a:endParaRPr/>
          </a:p>
        </p:txBody>
      </p:sp>
      <p:sp>
        <p:nvSpPr>
          <p:cNvPr id="128914909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3365057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Smoke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1410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438395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490787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16532283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9215568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Birds</a:t>
            </a:r>
          </a:p>
        </p:txBody>
      </p:sp>
      <p:pic>
        <p:nvPicPr>
          <p:cNvPr id="1333251513" name="Imag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314063" y="1269456"/>
            <a:ext cx="6092826" cy="2478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5508742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705179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129374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18711297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839398" y="799526"/>
            <a:ext cx="3060981" cy="3993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Two classes</a:t>
            </a:r>
          </a:p>
          <a:p>
            <a:pPr marL="717550" indent="-285750">
              <a:buFont typeface="Arial" panose="020B0604020202020204" pitchFamily="34" charset="0"/>
              <a:buChar char="•"/>
              <a:tabLst>
                <a:tab pos="538163" algn="l"/>
              </a:tabLst>
              <a:defRPr/>
            </a:pPr>
            <a:r>
              <a:rPr lang="en-CA" dirty="0" err="1"/>
              <a:t>RainDrop</a:t>
            </a:r>
            <a:endParaRPr lang="en-CA" dirty="0"/>
          </a:p>
          <a:p>
            <a:pPr marL="717550" indent="-285750">
              <a:buFont typeface="Arial" panose="020B0604020202020204" pitchFamily="34" charset="0"/>
              <a:buChar char="•"/>
              <a:tabLst>
                <a:tab pos="538163" algn="l"/>
              </a:tabLst>
              <a:defRPr/>
            </a:pPr>
            <a:r>
              <a:rPr lang="en-CA" dirty="0"/>
              <a:t>Rain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Random speed/length/drift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Respawn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noProof="0" dirty="0"/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en-CA" dirty="0"/>
              <a:t>Trigonometry</a:t>
            </a:r>
          </a:p>
        </p:txBody>
      </p:sp>
      <p:sp>
        <p:nvSpPr>
          <p:cNvPr id="150853074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5653799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Rain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DD83583-A81D-BCA8-AD54-9A87F76D4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621" y="1568329"/>
            <a:ext cx="5380938" cy="31142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871129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112974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61528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777912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397378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54948589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219891" y="580324"/>
            <a:ext cx="3481095" cy="369759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Two classes:</a:t>
            </a:r>
          </a:p>
          <a:p>
            <a:pPr marL="446088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Curve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A segment of track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Sinus</a:t>
            </a:r>
          </a:p>
          <a:p>
            <a:pPr marL="252413" lvl="0" indent="0" algn="l" rtl="0">
              <a:spcBef>
                <a:spcPts val="0"/>
              </a:spcBef>
              <a:spcAft>
                <a:spcPts val="0"/>
              </a:spcAft>
              <a:defRPr/>
            </a:pPr>
            <a:endParaRPr lang="en" dirty="0"/>
          </a:p>
          <a:p>
            <a:pPr marL="446088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CurveTrack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Update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Give info to train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</p:txBody>
      </p:sp>
      <p:sp>
        <p:nvSpPr>
          <p:cNvPr id="1936998779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75443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Track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7315288-5E99-8A85-ED08-28761DFFA6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74"/>
          <a:stretch>
            <a:fillRect/>
          </a:stretch>
        </p:blipFill>
        <p:spPr>
          <a:xfrm>
            <a:off x="165380" y="1972777"/>
            <a:ext cx="4999333" cy="28442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9485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49485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49485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48589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A1564FF-D83A-CCFF-D512-4ED0DFF5F40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61528" name="Google Shape;1247;p33">
            <a:extLst>
              <a:ext uri="{FF2B5EF4-FFF2-40B4-BE49-F238E27FC236}">
                <a16:creationId xmlns:a16="http://schemas.microsoft.com/office/drawing/2014/main" id="{353CCE2C-988D-B5BA-6B6D-04AA3FF1D12E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777912" name="Google Shape;1248;p33">
            <a:extLst>
              <a:ext uri="{FF2B5EF4-FFF2-40B4-BE49-F238E27FC236}">
                <a16:creationId xmlns:a16="http://schemas.microsoft.com/office/drawing/2014/main" id="{145AA9FE-6F1F-83BE-1C23-8E4E8DE082C1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3973780" name="Google Shape;1249;p33">
            <a:extLst>
              <a:ext uri="{FF2B5EF4-FFF2-40B4-BE49-F238E27FC236}">
                <a16:creationId xmlns:a16="http://schemas.microsoft.com/office/drawing/2014/main" id="{9A1022B2-21F5-70A8-4CF7-1ABE40E37773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54948589" name="Google Shape;1250;p33">
            <a:extLst>
              <a:ext uri="{FF2B5EF4-FFF2-40B4-BE49-F238E27FC236}">
                <a16:creationId xmlns:a16="http://schemas.microsoft.com/office/drawing/2014/main" id="{443CCC17-BD4A-136E-D37F-1D9BC74357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5472614" y="580326"/>
            <a:ext cx="3228371" cy="34127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Season’s manag</a:t>
            </a:r>
            <a:r>
              <a:rPr lang="fr-CH" dirty="0"/>
              <a:t>e</a:t>
            </a:r>
            <a:r>
              <a:rPr lang="en" dirty="0"/>
              <a:t>ment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Mountains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Works the same as before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Leaves/Snowflakes/Rain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The season changes based on cycle Day/Night</a:t>
            </a:r>
          </a:p>
        </p:txBody>
      </p:sp>
      <p:sp>
        <p:nvSpPr>
          <p:cNvPr id="1936998779" name="Google Shape;1251;p33">
            <a:extLst>
              <a:ext uri="{FF2B5EF4-FFF2-40B4-BE49-F238E27FC236}">
                <a16:creationId xmlns:a16="http://schemas.microsoft.com/office/drawing/2014/main" id="{C3A4CCE3-A9E1-C866-D5A5-2588C425FD65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754432" name="Google Shape;1250;p33">
            <a:extLst>
              <a:ext uri="{FF2B5EF4-FFF2-40B4-BE49-F238E27FC236}">
                <a16:creationId xmlns:a16="http://schemas.microsoft.com/office/drawing/2014/main" id="{0E5FEBE6-55E1-BB13-A7DF-8EA30420AC12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-CA" sz="2400" b="1" i="1" noProof="0" dirty="0"/>
              <a:t> Environment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5A96F6B-6DCE-19E4-D2DC-0F08BA731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04" y="1687742"/>
            <a:ext cx="5141817" cy="301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600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49485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48589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25954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9123648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868492449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301002553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081158792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43978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607103" y="2530245"/>
            <a:ext cx="424574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Contrast </a:t>
            </a:r>
            <a:br>
              <a:rPr lang="en" dirty="0"/>
            </a:br>
            <a:r>
              <a:rPr lang="en" dirty="0"/>
              <a:t>with the plan</a:t>
            </a:r>
            <a:endParaRPr i="1" dirty="0"/>
          </a:p>
        </p:txBody>
      </p:sp>
      <p:sp>
        <p:nvSpPr>
          <p:cNvPr id="153711786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26658900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56328116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2798293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705959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Planification - Prototype</a:t>
            </a:r>
            <a:endParaRPr i="1" dirty="0"/>
          </a:p>
        </p:txBody>
      </p:sp>
      <p:sp>
        <p:nvSpPr>
          <p:cNvPr id="1735591311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B96E89C-A350-68CD-7C4C-F3B32A4F75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83" y="1008755"/>
            <a:ext cx="8644434" cy="31259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315A016-7954-EC9C-7D28-3C1A66D915E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>
            <a:extLst>
              <a:ext uri="{FF2B5EF4-FFF2-40B4-BE49-F238E27FC236}">
                <a16:creationId xmlns:a16="http://schemas.microsoft.com/office/drawing/2014/main" id="{D1842AF7-0FE5-13FB-F979-BD6FA8D4E903}"/>
              </a:ext>
            </a:extLst>
          </p:cNvPr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>
            <a:extLst>
              <a:ext uri="{FF2B5EF4-FFF2-40B4-BE49-F238E27FC236}">
                <a16:creationId xmlns:a16="http://schemas.microsoft.com/office/drawing/2014/main" id="{5F2DF7B8-E678-5B67-2605-253572880A52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Planification - Prototype</a:t>
            </a:r>
            <a:endParaRPr i="1" dirty="0"/>
          </a:p>
        </p:txBody>
      </p:sp>
      <p:sp>
        <p:nvSpPr>
          <p:cNvPr id="1735591311" name="Google Shape;1949;p43">
            <a:extLst>
              <a:ext uri="{FF2B5EF4-FFF2-40B4-BE49-F238E27FC236}">
                <a16:creationId xmlns:a16="http://schemas.microsoft.com/office/drawing/2014/main" id="{9FF606F4-4AC6-B753-086E-28708B89B29E}"/>
              </a:ext>
            </a:extLst>
          </p:cNvPr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>
            <a:extLst>
              <a:ext uri="{FF2B5EF4-FFF2-40B4-BE49-F238E27FC236}">
                <a16:creationId xmlns:a16="http://schemas.microsoft.com/office/drawing/2014/main" id="{979432B2-C46B-89C7-D6ED-8BE362080000}"/>
              </a:ext>
            </a:extLst>
          </p:cNvPr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9CBCFAA-239C-27F4-3A85-86A88F9F49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761" r="67169" b="2960"/>
          <a:stretch>
            <a:fillRect/>
          </a:stretch>
        </p:blipFill>
        <p:spPr>
          <a:xfrm>
            <a:off x="235996" y="989164"/>
            <a:ext cx="4699007" cy="405156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C894E33-62E3-385F-D281-999F54033B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5500"/>
          <a:stretch>
            <a:fillRect/>
          </a:stretch>
        </p:blipFill>
        <p:spPr>
          <a:xfrm>
            <a:off x="4935003" y="989163"/>
            <a:ext cx="3495772" cy="4049134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851D709F-B2A4-E8BA-AC47-606B62BC6321}"/>
              </a:ext>
            </a:extLst>
          </p:cNvPr>
          <p:cNvSpPr/>
          <p:nvPr/>
        </p:nvSpPr>
        <p:spPr>
          <a:xfrm>
            <a:off x="7057882" y="3110799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478550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1393AA7-9294-3425-5BA7-03E692826E8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>
            <a:extLst>
              <a:ext uri="{FF2B5EF4-FFF2-40B4-BE49-F238E27FC236}">
                <a16:creationId xmlns:a16="http://schemas.microsoft.com/office/drawing/2014/main" id="{85AC0629-7938-7DE8-673A-7A93E00540B9}"/>
              </a:ext>
            </a:extLst>
          </p:cNvPr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>
            <a:extLst>
              <a:ext uri="{FF2B5EF4-FFF2-40B4-BE49-F238E27FC236}">
                <a16:creationId xmlns:a16="http://schemas.microsoft.com/office/drawing/2014/main" id="{2AD9A2D9-20B7-3DA1-245A-D2BD3012A1ED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Planification - Prototype</a:t>
            </a:r>
            <a:endParaRPr i="1" dirty="0"/>
          </a:p>
        </p:txBody>
      </p:sp>
      <p:sp>
        <p:nvSpPr>
          <p:cNvPr id="1735591311" name="Google Shape;1949;p43">
            <a:extLst>
              <a:ext uri="{FF2B5EF4-FFF2-40B4-BE49-F238E27FC236}">
                <a16:creationId xmlns:a16="http://schemas.microsoft.com/office/drawing/2014/main" id="{92528605-A1E8-8F40-238D-C1DEAA514631}"/>
              </a:ext>
            </a:extLst>
          </p:cNvPr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>
            <a:extLst>
              <a:ext uri="{FF2B5EF4-FFF2-40B4-BE49-F238E27FC236}">
                <a16:creationId xmlns:a16="http://schemas.microsoft.com/office/drawing/2014/main" id="{C9CFF25F-9743-AD90-4017-BC62D88D7850}"/>
              </a:ext>
            </a:extLst>
          </p:cNvPr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C86160C-B341-F214-D10F-E79178A156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761" r="67169" b="2960"/>
          <a:stretch>
            <a:fillRect/>
          </a:stretch>
        </p:blipFill>
        <p:spPr>
          <a:xfrm>
            <a:off x="180856" y="851314"/>
            <a:ext cx="4580045" cy="3948997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538FD1B-C12E-3D79-473C-A7D1CCB521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4697" r="-148"/>
          <a:stretch>
            <a:fillRect/>
          </a:stretch>
        </p:blipFill>
        <p:spPr>
          <a:xfrm>
            <a:off x="4760901" y="851313"/>
            <a:ext cx="4245757" cy="3946625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A7414594-C03D-81E9-F803-87D168431A40}"/>
              </a:ext>
            </a:extLst>
          </p:cNvPr>
          <p:cNvSpPr/>
          <p:nvPr/>
        </p:nvSpPr>
        <p:spPr>
          <a:xfrm>
            <a:off x="5109613" y="2931174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856360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8299051" name="Google Shape;1199;p31"/>
          <p:cNvGrpSpPr/>
          <p:nvPr/>
        </p:nvGrpSpPr>
        <p:grpSpPr bwMode="auto">
          <a:xfrm>
            <a:off x="543463" y="3301326"/>
            <a:ext cx="8057029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 bwMode="auto"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 bwMode="auto"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 bwMode="auto"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aphicFrame>
        <p:nvGraphicFramePr>
          <p:cNvPr id="1996668473" name="Google Shape;1203;p3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58404045"/>
              </p:ext>
            </p:extLst>
          </p:nvPr>
        </p:nvGraphicFramePr>
        <p:xfrm>
          <a:off x="727855" y="1684737"/>
          <a:ext cx="6449033" cy="5525850"/>
        </p:xfrm>
        <a:graphic>
          <a:graphicData uri="http://schemas.openxmlformats.org/drawingml/2006/table">
            <a:tbl>
              <a:tblPr>
                <a:tableStyleId>{C546DBDB-1F74-4361-BF75-D81A5296C669}</a:tableStyleId>
              </a:tblPr>
              <a:tblGrid>
                <a:gridCol w="644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0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Fix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some</a:t>
                      </a: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 issues</a:t>
                      </a:r>
                      <a:endParaRPr dirty="0"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CH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Detection</a:t>
                      </a:r>
                      <a:r>
                        <a:rPr lang="fr-CH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 of the volume</a:t>
                      </a:r>
                      <a:endParaRPr dirty="0"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Add more animations</a:t>
                      </a:r>
                      <a:endParaRPr dirty="0"/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28575" algn="ctr">
                      <a:solidFill>
                        <a:srgbClr val="B33C3C">
                          <a:alpha val="0"/>
                        </a:srgb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67071106" name="Google Shape;1206;p31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plan</a:t>
            </a:r>
            <a:endParaRPr/>
          </a:p>
        </p:txBody>
      </p:sp>
      <p:sp>
        <p:nvSpPr>
          <p:cNvPr id="511094198" name="Google Shape;1207;p31"/>
          <p:cNvSpPr/>
          <p:nvPr/>
        </p:nvSpPr>
        <p:spPr bwMode="auto"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710689" name="Google Shape;1208;p31"/>
          <p:cNvSpPr/>
          <p:nvPr/>
        </p:nvSpPr>
        <p:spPr bwMode="auto"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20168605" name="Google Shape;1250;p33"/>
          <p:cNvSpPr txBox="1"/>
          <p:nvPr/>
        </p:nvSpPr>
        <p:spPr bwMode="auto">
          <a:xfrm>
            <a:off x="1419403" y="999505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What’s next?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32152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6446159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68075990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23029026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13839065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5569206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530245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</a:t>
            </a:r>
            <a:endParaRPr i="1"/>
          </a:p>
        </p:txBody>
      </p:sp>
      <p:sp>
        <p:nvSpPr>
          <p:cNvPr id="181523983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117987136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68701534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548314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6136588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516852" name="Google Shape;2299;p49"/>
          <p:cNvSpPr/>
          <p:nvPr/>
        </p:nvSpPr>
        <p:spPr bwMode="auto"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994102507" name="Google Shape;2300;p49"/>
          <p:cNvGrpSpPr/>
          <p:nvPr/>
        </p:nvGrpSpPr>
        <p:grpSpPr bwMode="auto"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 bwMode="auto"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 bwMode="auto"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 bwMode="auto"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 bwMode="auto"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 bwMode="auto"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 bwMode="auto">
              <a:xfrm>
                <a:off x="11075" y="3519300"/>
                <a:ext cx="204649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 bwMode="auto"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 bwMode="auto"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 bwMode="auto">
              <a:xfrm>
                <a:off x="1976050" y="3763800"/>
                <a:ext cx="202399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 bwMode="auto"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 bwMode="auto"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 bwMode="auto"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 bwMode="auto"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 bwMode="auto"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 bwMode="auto"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 bwMode="auto"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 bwMode="auto"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 bwMode="auto"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 bwMode="auto">
            <a:xfrm>
              <a:off x="292425" y="3568199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844542900" name="Google Shape;2320;p49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Thanks!</a:t>
            </a:r>
            <a:endParaRPr/>
          </a:p>
        </p:txBody>
      </p:sp>
      <p:sp>
        <p:nvSpPr>
          <p:cNvPr id="2101354220" name="Google Shape;2322;p49"/>
          <p:cNvSpPr txBox="1"/>
          <p:nvPr/>
        </p:nvSpPr>
        <p:spPr bwMode="auto"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  <p:sp>
        <p:nvSpPr>
          <p:cNvPr id="1526069674" name="Google Shape;2344;p49"/>
          <p:cNvSpPr/>
          <p:nvPr/>
        </p:nvSpPr>
        <p:spPr bwMode="auto"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64176052" name="Google Shape;2345;p49"/>
          <p:cNvSpPr/>
          <p:nvPr/>
        </p:nvSpPr>
        <p:spPr bwMode="auto"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99751154" name="Google Shape;2346;p49"/>
          <p:cNvGrpSpPr/>
          <p:nvPr/>
        </p:nvGrpSpPr>
        <p:grpSpPr bwMode="auto"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 bwMode="auto"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 bwMode="auto">
              <a:xfrm>
                <a:off x="-70375" y="4454000"/>
                <a:ext cx="9237925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 bwMode="auto"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 bwMode="auto"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 bwMode="auto"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 bwMode="auto"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770743235" name="Google Shape;2405;p49"/>
          <p:cNvSpPr/>
          <p:nvPr/>
        </p:nvSpPr>
        <p:spPr bwMode="auto"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8614426" name="Google Shape;2406;p49"/>
          <p:cNvSpPr/>
          <p:nvPr/>
        </p:nvSpPr>
        <p:spPr bwMode="auto"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50378335" name="Google Shape;2407;p49"/>
          <p:cNvSpPr/>
          <p:nvPr/>
        </p:nvSpPr>
        <p:spPr bwMode="auto"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7007612" name="Google Shape;2408;p49"/>
          <p:cNvSpPr/>
          <p:nvPr/>
        </p:nvSpPr>
        <p:spPr bwMode="auto"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335490" name="Google Shape;2409;p49"/>
          <p:cNvSpPr/>
          <p:nvPr/>
        </p:nvSpPr>
        <p:spPr bwMode="auto"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0438091" name="Google Shape;2410;p49"/>
          <p:cNvSpPr/>
          <p:nvPr/>
        </p:nvSpPr>
        <p:spPr bwMode="auto"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706314552" name="Google Shape;2411;p49"/>
          <p:cNvGrpSpPr/>
          <p:nvPr/>
        </p:nvGrpSpPr>
        <p:grpSpPr bwMode="auto">
          <a:xfrm>
            <a:off x="649349" y="4019912"/>
            <a:ext cx="3269776" cy="772427"/>
            <a:chOff x="3962175" y="2857795"/>
            <a:chExt cx="3075700" cy="726579"/>
          </a:xfrm>
        </p:grpSpPr>
        <p:sp>
          <p:nvSpPr>
            <p:cNvPr id="2412" name="Google Shape;2412;p4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2127648457" name="ZoneTexte 1"/>
          <p:cNvSpPr txBox="1"/>
          <p:nvPr/>
        </p:nvSpPr>
        <p:spPr bwMode="auto"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CH" sz="1800" b="1">
                <a:solidFill>
                  <a:schemeClr val="dk1"/>
                </a:solidFill>
                <a:latin typeface="Abel"/>
              </a:rPr>
              <a:t>Do you have questions?</a:t>
            </a:r>
            <a:endParaRPr/>
          </a:p>
        </p:txBody>
      </p:sp>
      <p:pic>
        <p:nvPicPr>
          <p:cNvPr id="1074785379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5400000">
            <a:off x="7086943" y="2202813"/>
            <a:ext cx="355520" cy="4459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674</Words>
  <Application>Microsoft Office PowerPoint</Application>
  <PresentationFormat>Affichage à l'écran (16:9)</PresentationFormat>
  <Paragraphs>138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8" baseType="lpstr">
      <vt:lpstr>Arial</vt:lpstr>
      <vt:lpstr>Wingdings</vt:lpstr>
      <vt:lpstr>Cambria Math</vt:lpstr>
      <vt:lpstr>Abhaya Libre</vt:lpstr>
      <vt:lpstr>Abel</vt:lpstr>
      <vt:lpstr>Bakbak One</vt:lpstr>
      <vt:lpstr>Railroad Minitheme by Slidesgo</vt:lpstr>
      <vt:lpstr>RailBeat  Summer School</vt:lpstr>
      <vt:lpstr>Summary</vt:lpstr>
      <vt:lpstr>Sounds  analysis</vt:lpstr>
      <vt:lpstr>Sounds analysis</vt:lpstr>
      <vt:lpstr>Sounds analysis</vt:lpstr>
      <vt:lpstr>Sounds analysis</vt:lpstr>
      <vt:lpstr>Sounds analysis</vt:lpstr>
      <vt:lpstr>Sounds analysis</vt:lpstr>
      <vt:lpstr>Animation</vt:lpstr>
      <vt:lpstr>Animation</vt:lpstr>
      <vt:lpstr>Animation</vt:lpstr>
      <vt:lpstr>Animation</vt:lpstr>
      <vt:lpstr>Animation</vt:lpstr>
      <vt:lpstr>Animation</vt:lpstr>
      <vt:lpstr>Contrast  with the plan</vt:lpstr>
      <vt:lpstr>Planification - Prototype</vt:lpstr>
      <vt:lpstr>Planification - Prototype</vt:lpstr>
      <vt:lpstr>Planification - Prototype</vt:lpstr>
      <vt:lpstr>Contrast with plan</vt:lpstr>
      <vt:lpstr>Showcase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Zuber Dina</cp:lastModifiedBy>
  <cp:revision>66</cp:revision>
  <dcterms:modified xsi:type="dcterms:W3CDTF">2026-08-27T15:44:00Z</dcterms:modified>
</cp:coreProperties>
</file>