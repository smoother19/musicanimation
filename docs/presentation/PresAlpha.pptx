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74" r:id="rId15"/>
    <p:sldId id="269" r:id="rId16"/>
    <p:sldId id="270" r:id="rId17"/>
    <p:sldId id="271" r:id="rId18"/>
    <p:sldId id="268" r:id="rId19"/>
    <p:sldId id="272" r:id="rId20"/>
  </p:sldIdLst>
  <p:sldSz cx="9144000" cy="5143500" type="screen16x9"/>
  <p:notesSz cx="6858000" cy="9144000"/>
  <p:embeddedFontLst>
    <p:embeddedFont>
      <p:font typeface="Abel" panose="02000506030000020004" pitchFamily="2" charset="0"/>
      <p:regular r:id="rId22"/>
    </p:embeddedFont>
    <p:embeddedFont>
      <p:font typeface="Cambria Math" panose="02040503050406030204" pitchFamily="18" charset="0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516" y="-153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599452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170735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822398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2957812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04259" name="Google Shape;1211;g15207a17831_0_14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940421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7250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4334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1598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8226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37558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0080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3156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73296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662C42-B8A0-0164-5A63-4CB9E2EE27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>
            <a:extLst>
              <a:ext uri="{FF2B5EF4-FFF2-40B4-BE49-F238E27FC236}">
                <a16:creationId xmlns:a16="http://schemas.microsoft.com/office/drawing/2014/main" id="{B5FFA89B-77F2-7B27-8F78-1F6CA9142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>
            <a:extLst>
              <a:ext uri="{FF2B5EF4-FFF2-40B4-BE49-F238E27FC236}">
                <a16:creationId xmlns:a16="http://schemas.microsoft.com/office/drawing/2014/main" id="{863636BA-1402-B629-E30C-BF4A13702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73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50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62845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457792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07167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isn’t draw but described, he can be nuild with a seed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I use a trivial grammar system to build it =&gt; a train is only a locomotive with several wagons choose between 5 types of différents probalities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can move forward or backward depending of it’s acceleration =&gt; I use this when I have more/less notes incoming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A smoke system is used with the train to add more animation (not sync with the music for the moment)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fr-F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463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574873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4273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772045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46D912-C2F9-2C57-D715-E326F25126D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>
            <a:extLst>
              <a:ext uri="{FF2B5EF4-FFF2-40B4-BE49-F238E27FC236}">
                <a16:creationId xmlns:a16="http://schemas.microsoft.com/office/drawing/2014/main" id="{B63924BF-AB9A-F008-6184-38BB209D6B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>
                <a:extLst>
                  <a:ext uri="{FF2B5EF4-FFF2-40B4-BE49-F238E27FC236}">
                    <a16:creationId xmlns:a16="http://schemas.microsoft.com/office/drawing/2014/main" id="{422248AA-CBB9-0421-7170-C4A18569FB2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/>
                        <a:ea typeface="Arial"/>
                        <a:cs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82652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3080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780060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48513" name="Google Shape;1196;g15207a17831_0_1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549038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41783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10806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779758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910099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6162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33653249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231187517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262204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518647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94367488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491062397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07370074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536210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18378796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888316931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7560492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519839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03355355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50675672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8496591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6110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043058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4925073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8400849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082402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1382093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785696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4354668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255051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8012858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040447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0335178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33104800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26287688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2063970616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226690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3929314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50021032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039767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9071353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854210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112582238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2067489893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93722804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0221562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74245337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94128185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902238155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613776666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8296136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44953562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0897292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87899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373951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4689875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70463461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603616212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02480166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76014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688009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2833363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2477888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565788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85328703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19270580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459983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550498307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9290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0586921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685993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48954825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0387790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543707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7662674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7723212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04924403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4669342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44570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6081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007538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04383508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4679646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76882811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46504702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98975451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28664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436074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285094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0688363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8909619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2875219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3756107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518328010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323589296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23679028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01648093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60931447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2455537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55089362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93854943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64483026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1657288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84411983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5455459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143103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6320664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9628220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878353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0713951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68034121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33115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6679492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504747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47057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/>
              <a:t>Summary</a:t>
            </a:r>
            <a:endParaRPr sz="3600" b="1" dirty="0"/>
          </a:p>
        </p:txBody>
      </p:sp>
      <p:sp>
        <p:nvSpPr>
          <p:cNvPr id="1094385928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1255792358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Sound analysis</a:t>
            </a:r>
            <a:endParaRPr i="1" dirty="0"/>
          </a:p>
        </p:txBody>
      </p:sp>
      <p:sp>
        <p:nvSpPr>
          <p:cNvPr id="1047170882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03854174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Animation </a:t>
            </a:r>
            <a:endParaRPr i="1" dirty="0"/>
          </a:p>
        </p:txBody>
      </p:sp>
      <p:sp>
        <p:nvSpPr>
          <p:cNvPr id="2001543015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sp>
        <p:nvSpPr>
          <p:cNvPr id="1053796061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 dirty="0"/>
              <a:t>Contrast with plan</a:t>
            </a:r>
            <a:endParaRPr i="1" dirty="0"/>
          </a:p>
        </p:txBody>
      </p:sp>
      <p:sp>
        <p:nvSpPr>
          <p:cNvPr id="2067234354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1015700547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defRPr/>
            </a:pPr>
            <a:r>
              <a:rPr lang="fr-CH" i="1" dirty="0"/>
              <a:t>Showcase </a:t>
            </a:r>
          </a:p>
        </p:txBody>
      </p:sp>
      <p:sp>
        <p:nvSpPr>
          <p:cNvPr id="193662014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153440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60670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0403131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2566719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33231128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58620984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3846706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486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11763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44765605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11003978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3548743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51905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13832310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01</a:t>
            </a:r>
            <a:endParaRPr dirty="0"/>
          </a:p>
        </p:txBody>
      </p:sp>
      <p:grpSp>
        <p:nvGrpSpPr>
          <p:cNvPr id="1503375970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7216264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492650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326556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Music analysis</a:t>
            </a:r>
          </a:p>
        </p:txBody>
      </p:sp>
      <p:sp>
        <p:nvSpPr>
          <p:cNvPr id="2015357091" name="ZoneTexte 2015357090"/>
          <p:cNvSpPr txBox="1"/>
          <p:nvPr/>
        </p:nvSpPr>
        <p:spPr bwMode="auto">
          <a:xfrm>
            <a:off x="2591039" y="1840786"/>
            <a:ext cx="5983275" cy="17267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r>
              <a:rPr lang="fr-CH"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TODO THE REST!!</a:t>
            </a: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STFT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"Where is the energy in the frequency domain?"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"Which musical notes are present?"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"What is the pitch of this single sound?"</a:t>
            </a:r>
            <a:endParaRPr sz="2200" dirty="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 dirty="0" err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r>
              <a:rPr sz="2000" b="0" i="0" u="none" dirty="0">
                <a:solidFill>
                  <a:schemeClr val="tx1"/>
                </a:solidFill>
                <a:latin typeface="Abel"/>
                <a:ea typeface="Abel"/>
                <a:cs typeface="Abel"/>
              </a:rPr>
              <a:t> = "YIN, but with fewer mistakes."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677599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928790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44464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632365674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278155" name="Google Shape;1250;p33"/>
          <p:cNvSpPr txBox="1"/>
          <p:nvPr/>
        </p:nvSpPr>
        <p:spPr bwMode="auto">
          <a:xfrm>
            <a:off x="614730" y="981117"/>
            <a:ext cx="2448126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pic>
        <p:nvPicPr>
          <p:cNvPr id="1811285758" name="Image 181128575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89079" y="580324"/>
            <a:ext cx="3254319" cy="2440739"/>
          </a:xfrm>
          <a:prstGeom prst="rect">
            <a:avLst/>
          </a:prstGeom>
        </p:spPr>
      </p:pic>
      <p:pic>
        <p:nvPicPr>
          <p:cNvPr id="1522081535" name="Image 152208153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23117" y="3107148"/>
            <a:ext cx="3220280" cy="2415210"/>
          </a:xfrm>
          <a:prstGeom prst="rect">
            <a:avLst/>
          </a:prstGeom>
        </p:spPr>
      </p:pic>
      <p:pic>
        <p:nvPicPr>
          <p:cNvPr id="1535073880" name="Image 1535073879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743472" y="1234821"/>
            <a:ext cx="2935833" cy="2201875"/>
          </a:xfrm>
          <a:prstGeom prst="rect">
            <a:avLst/>
          </a:prstGeom>
        </p:spPr>
      </p:pic>
      <p:pic>
        <p:nvPicPr>
          <p:cNvPr id="1200018018" name="Image 120001801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77956" y="2998257"/>
            <a:ext cx="2843787" cy="2132840"/>
          </a:xfrm>
          <a:prstGeom prst="rect">
            <a:avLst/>
          </a:prstGeom>
        </p:spPr>
      </p:pic>
      <p:sp>
        <p:nvSpPr>
          <p:cNvPr id="1332855207" name="ZoneTexte 1332855206"/>
          <p:cNvSpPr txBox="1"/>
          <p:nvPr/>
        </p:nvSpPr>
        <p:spPr bwMode="auto">
          <a:xfrm>
            <a:off x="614730" y="2662616"/>
            <a:ext cx="98712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063071052" name="ZoneTexte 1063071051"/>
          <p:cNvSpPr txBox="1"/>
          <p:nvPr/>
        </p:nvSpPr>
        <p:spPr bwMode="auto">
          <a:xfrm>
            <a:off x="3817043" y="3436697"/>
            <a:ext cx="99000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S</a:t>
            </a:r>
            <a:r>
              <a:rPr lang="fr-FR" sz="1600" b="1">
                <a:solidFill>
                  <a:schemeClr val="tx1"/>
                </a:solidFill>
                <a:latin typeface="Abel"/>
                <a:cs typeface="Abel"/>
              </a:rPr>
              <a:t>TFT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168414805" name="ZoneTexte 1168414804"/>
          <p:cNvSpPr txBox="1"/>
          <p:nvPr/>
        </p:nvSpPr>
        <p:spPr bwMode="auto">
          <a:xfrm>
            <a:off x="7190819" y="244684"/>
            <a:ext cx="99288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405376363" name="ZoneTexte 1405376362"/>
          <p:cNvSpPr txBox="1"/>
          <p:nvPr/>
        </p:nvSpPr>
        <p:spPr bwMode="auto">
          <a:xfrm>
            <a:off x="5292636" y="4908926"/>
            <a:ext cx="99324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49087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047404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938965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01391078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1 bin CQT = 1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halftone 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= 1 MIDI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note if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bins_per_octave=12</a:t>
            </a:r>
            <a:r>
              <a:rPr lang="fr-FR" b="1"/>
              <a:t> </a:t>
            </a:r>
            <a:r>
              <a:rPr lang="fr-FR" b="0"/>
              <a:t>(Default value)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C2 = 65 Hz (fmin)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B8 = 7,9k Hz (fmax)</a:t>
            </a:r>
            <a:endParaRPr b="0"/>
          </a:p>
        </p:txBody>
      </p:sp>
      <p:sp>
        <p:nvSpPr>
          <p:cNvPr id="120162204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908546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Manage Hz  ranges from midi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27506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23854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0690352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89776582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699509" y="981117"/>
            <a:ext cx="6446228" cy="2486410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2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Load the audio → mono waveform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Clean it → 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Trim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silence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(-30db)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eparate melody from drums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(HPSS)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Find note </a:t>
            </a:r>
            <a:r>
              <a:rPr lang="fr-FR" sz="15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begining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detect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Estimate pitch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One note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pYIN gives frequency over time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Several notes → CQT gives energy per semitone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Convert frequency → MIDI note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Cut the timeline into segments using the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For each segment, pick the active note(s) and create a MIDI event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Write the .mid file</a:t>
            </a:r>
            <a:endParaRPr sz="1500" b="1" dirty="0"/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dirty="0"/>
              <a:t>Done !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57629922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204211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Translation process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D600C61-764F-1295-BD00-C22BFB169E1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>
            <a:extLst>
              <a:ext uri="{FF2B5EF4-FFF2-40B4-BE49-F238E27FC236}">
                <a16:creationId xmlns:a16="http://schemas.microsoft.com/office/drawing/2014/main" id="{731AB92A-5298-B898-9070-CAADA8027F40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>
            <a:extLst>
              <a:ext uri="{FF2B5EF4-FFF2-40B4-BE49-F238E27FC236}">
                <a16:creationId xmlns:a16="http://schemas.microsoft.com/office/drawing/2014/main" id="{ACCA685B-6BAD-A1AF-1A60-8540B9679B2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>
            <a:extLst>
              <a:ext uri="{FF2B5EF4-FFF2-40B4-BE49-F238E27FC236}">
                <a16:creationId xmlns:a16="http://schemas.microsoft.com/office/drawing/2014/main" id="{10D9A332-3C7F-FB8E-E3C7-2158338C6CFA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>
            <a:extLst>
              <a:ext uri="{FF2B5EF4-FFF2-40B4-BE49-F238E27FC236}">
                <a16:creationId xmlns:a16="http://schemas.microsoft.com/office/drawing/2014/main" id="{B0E26325-C592-442F-E1B0-2106777DB04B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>
            <a:extLst>
              <a:ext uri="{FF2B5EF4-FFF2-40B4-BE49-F238E27FC236}">
                <a16:creationId xmlns:a16="http://schemas.microsoft.com/office/drawing/2014/main" id="{3D24DA4A-1287-28B7-B3C1-11FFCD1B5E97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26BE98E1-3857-B430-60B1-5724D3F5355D}"/>
              </a:ext>
            </a:extLst>
          </p:cNvPr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Detect note and volume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7BE266A2-5509-944F-1BF2-6CBF9A253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1616" y="1821346"/>
            <a:ext cx="4151870" cy="2000534"/>
          </a:xfrm>
        </p:spPr>
        <p:txBody>
          <a:bodyPr/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Load</a:t>
            </a:r>
            <a:r>
              <a:rPr lang="fr-CH" sz="1500" dirty="0"/>
              <a:t> MP3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Extract</a:t>
            </a:r>
            <a:r>
              <a:rPr lang="fr-CH" sz="1500" dirty="0"/>
              <a:t> :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Notes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Volume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 err="1"/>
              <a:t>Onsets</a:t>
            </a:r>
            <a:endParaRPr lang="fr-CH" sz="16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22C12DD-F12D-FFA9-F36E-1905A777D450}"/>
              </a:ext>
            </a:extLst>
          </p:cNvPr>
          <p:cNvSpPr txBox="1"/>
          <p:nvPr/>
        </p:nvSpPr>
        <p:spPr>
          <a:xfrm>
            <a:off x="4364544" y="1498181"/>
            <a:ext cx="727195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500" b="1" dirty="0"/>
              <a:t>With </a:t>
            </a:r>
            <a:r>
              <a:rPr lang="fr-CH" sz="1500" b="1" dirty="0" err="1"/>
              <a:t>Librosa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220678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1888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328590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18568932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23587602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8430349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482046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441673872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22460089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41576708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77362715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9920473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3399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92168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742088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35672369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Syncro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trains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Can accelerate</a:t>
            </a:r>
            <a:endParaRPr/>
          </a:p>
        </p:txBody>
      </p:sp>
      <p:sp>
        <p:nvSpPr>
          <p:cNvPr id="128914909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36505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Smoke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410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438395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490787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6532283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9215568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Birds</a:t>
            </a:r>
          </a:p>
        </p:txBody>
      </p:sp>
      <p:pic>
        <p:nvPicPr>
          <p:cNvPr id="133325151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14063" y="1269456"/>
            <a:ext cx="6092826" cy="247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508742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705179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12937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8711297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135247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Two classes</a:t>
            </a:r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 err="1"/>
              <a:t>RainDrop</a:t>
            </a:r>
            <a:endParaRPr lang="en-CA" dirty="0"/>
          </a:p>
          <a:p>
            <a:pPr marL="717550" indent="-285750">
              <a:buFont typeface="Arial" panose="020B0604020202020204" pitchFamily="34" charset="0"/>
              <a:buChar char="•"/>
              <a:tabLst>
                <a:tab pos="538163" algn="l"/>
              </a:tabLst>
              <a:defRPr/>
            </a:pPr>
            <a:r>
              <a:rPr lang="en-CA" dirty="0"/>
              <a:t>Rain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 dirty="0"/>
              <a:t>Random speed/size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CA" noProof="0"/>
              <a:t>Respawn</a:t>
            </a:r>
            <a:endParaRPr lang="en-CA" noProof="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CA" noProof="0" dirty="0"/>
          </a:p>
        </p:txBody>
      </p:sp>
      <p:sp>
        <p:nvSpPr>
          <p:cNvPr id="1508530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653799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Rain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indefinite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0" dur="indefinite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5" dur="indefinite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/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112974" grpId="0" uiExpand="1" build="p"/>
      <p:bldP spid="1187112974" grpId="1" uiExpand="1" build="p"/>
      <p:bldP spid="1187112974" grpId="2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762886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Groupe of triangles (rays)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angle of projection and speed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</p:txBody>
      </p:sp>
      <p:sp>
        <p:nvSpPr>
          <p:cNvPr id="193699877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Track</a:t>
            </a:r>
            <a:endParaRPr dirty="0"/>
          </a:p>
        </p:txBody>
      </p:sp>
      <p:pic>
        <p:nvPicPr>
          <p:cNvPr id="1942153695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4025" y="2196601"/>
            <a:ext cx="5275117" cy="1023341"/>
          </a:xfrm>
          <a:prstGeom prst="rect">
            <a:avLst/>
          </a:prstGeom>
        </p:spPr>
      </p:pic>
      <p:sp>
        <p:nvSpPr>
          <p:cNvPr id="1155203805" name="Flèche : droite 5"/>
          <p:cNvSpPr/>
          <p:nvPr/>
        </p:nvSpPr>
        <p:spPr bwMode="auto">
          <a:xfrm>
            <a:off x="5521923" y="2465955"/>
            <a:ext cx="498764" cy="484632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0477376" name="Google Shape;1250;p33"/>
              <p:cNvSpPr txBox="1"/>
              <p:nvPr/>
            </p:nvSpPr>
            <p:spPr bwMode="auto">
              <a:xfrm>
                <a:off x="6143469" y="2159647"/>
                <a:ext cx="3224645" cy="4250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9pPr>
              </a:lstStyle>
              <a:p>
                <a:pPr marL="0" indent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>
                          <a:latin typeface="Cambria Math"/>
                        </a:rPr>
                        <m:t>𝑥</m:t>
                      </m:r>
                      <m:d>
                        <m:dPr>
                          <m:ctrlPr>
                            <a:rPr lang="fr-CH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fr-CH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/>
                        </a:rPr>
                        <m:t>+</m:t>
                      </m:r>
                      <m:r>
                        <a:rPr lang="fr-CH" i="1">
                          <a:latin typeface="Cambria Math"/>
                        </a:rPr>
                        <m:t>𝑣</m:t>
                      </m:r>
                      <m:r>
                        <a:rPr lang="fr-CH">
                          <a:latin typeface="Cambria Math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/>
                        </a:rPr>
                        <m:t>⋅</m:t>
                      </m:r>
                      <m:r>
                        <a:rPr lang="fr-CH" i="1">
                          <a:latin typeface="Cambria Math"/>
                        </a:rPr>
                        <m:t>𝑡</m:t>
                      </m:r>
                    </m:oMath>
                  </m:oMathPara>
                </a14:m>
                <a:endParaRPr lang="fr-CH"/>
              </a:p>
              <a:p>
                <a:pPr marL="0" indent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>
                          <a:latin typeface="Cambria Math"/>
                        </a:rPr>
                        <m:t>𝑦</m:t>
                      </m:r>
                      <m:d>
                        <m:dPr>
                          <m:ctrlPr>
                            <a:rPr lang="fr-CH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fr-CH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/>
                        </a:rPr>
                        <m:t>+</m:t>
                      </m:r>
                      <m:r>
                        <a:rPr lang="fr-CH" i="1">
                          <a:latin typeface="Cambria Math"/>
                        </a:rPr>
                        <m:t>𝑣</m:t>
                      </m:r>
                      <m:r>
                        <a:rPr lang="fr-CH">
                          <a:latin typeface="Cambria Math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/>
                        </a:rPr>
                        <m:t>⋅</m:t>
                      </m:r>
                      <m:r>
                        <a:rPr lang="fr-CH" i="1">
                          <a:latin typeface="Cambria Math"/>
                        </a:rPr>
                        <m:t>𝑡</m:t>
                      </m:r>
                      <m:r>
                        <a:rPr lang="fr-CH">
                          <a:latin typeface="Cambria Math"/>
                        </a:rPr>
                        <m:t>+</m:t>
                      </m:r>
                      <m:f>
                        <m:fPr>
                          <m:ctrlPr>
                            <a:rPr lang="fr-CH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fr-CH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fr-CH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fr-CH" i="1">
                          <a:latin typeface="Cambria Math"/>
                        </a:rPr>
                        <m:t>𝑔</m:t>
                      </m:r>
                      <m:sSup>
                        <m:sSupPr>
                          <m:ctrlPr>
                            <a:rPr lang="fr-CH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  <m:sup>
                          <m:r>
                            <a:rPr lang="fr-CH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CH"/>
              </a:p>
              <a:p>
                <a:pPr marL="0" indent="0">
                  <a:defRPr/>
                </a:pPr>
                <a:r>
                  <a:rPr lang="en-US"/>
                  <a:t>Ballistics</a:t>
                </a:r>
                <a:endParaRPr/>
              </a:p>
            </p:txBody>
          </p:sp>
        </mc:Choice>
        <mc:Fallback xmlns="">
          <p:sp>
            <p:nvSpPr>
              <p:cNvPr id="1900477376" name="Google Shape;1250;p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43469" y="2159647"/>
                <a:ext cx="3224645" cy="425021"/>
              </a:xfrm>
              <a:prstGeom prst="rect">
                <a:avLst/>
              </a:prstGeom>
              <a:blipFill>
                <a:blip r:embed="rId4"/>
                <a:stretch>
                  <a:fillRect l="-1134" b="-1742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15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42153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203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"/>
                                        <p:tgtEl>
                                          <p:spTgt spid="1155203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"/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"/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  <p:bldP spid="54948589" grpId="1" uiExpand="1" build="p"/>
      <p:bldP spid="1155203805" grpId="0" animBg="1"/>
      <p:bldP spid="1900477376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A1564FF-D83A-CCFF-D512-4ED0DFF5F40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>
            <a:extLst>
              <a:ext uri="{FF2B5EF4-FFF2-40B4-BE49-F238E27FC236}">
                <a16:creationId xmlns:a16="http://schemas.microsoft.com/office/drawing/2014/main" id="{353CCE2C-988D-B5BA-6B6D-04AA3FF1D12E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>
            <a:extLst>
              <a:ext uri="{FF2B5EF4-FFF2-40B4-BE49-F238E27FC236}">
                <a16:creationId xmlns:a16="http://schemas.microsoft.com/office/drawing/2014/main" id="{145AA9FE-6F1F-83BE-1C23-8E4E8DE082C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>
            <a:extLst>
              <a:ext uri="{FF2B5EF4-FFF2-40B4-BE49-F238E27FC236}">
                <a16:creationId xmlns:a16="http://schemas.microsoft.com/office/drawing/2014/main" id="{9A1022B2-21F5-70A8-4CF7-1ABE40E37773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>
            <a:extLst>
              <a:ext uri="{FF2B5EF4-FFF2-40B4-BE49-F238E27FC236}">
                <a16:creationId xmlns:a16="http://schemas.microsoft.com/office/drawing/2014/main" id="{443CCC17-BD4A-136E-D37F-1D9BC74357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4762886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Groupe of triangles (rays)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angle of projection and speed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</p:txBody>
      </p:sp>
      <p:sp>
        <p:nvSpPr>
          <p:cNvPr id="1936998779" name="Google Shape;1251;p33">
            <a:extLst>
              <a:ext uri="{FF2B5EF4-FFF2-40B4-BE49-F238E27FC236}">
                <a16:creationId xmlns:a16="http://schemas.microsoft.com/office/drawing/2014/main" id="{C3A4CCE3-A9E1-C866-D5A5-2588C425FD65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>
            <a:extLst>
              <a:ext uri="{FF2B5EF4-FFF2-40B4-BE49-F238E27FC236}">
                <a16:creationId xmlns:a16="http://schemas.microsoft.com/office/drawing/2014/main" id="{0E5FEBE6-55E1-BB13-A7DF-8EA30420AC12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E</a:t>
            </a:r>
            <a:r>
              <a:rPr lang="fr-CH" sz="2400" b="1" i="1" dirty="0" err="1"/>
              <a:t>nvironment</a:t>
            </a:r>
            <a:endParaRPr dirty="0"/>
          </a:p>
        </p:txBody>
      </p:sp>
      <p:sp>
        <p:nvSpPr>
          <p:cNvPr id="1155203805" name="Flèche : droite 5">
            <a:extLst>
              <a:ext uri="{FF2B5EF4-FFF2-40B4-BE49-F238E27FC236}">
                <a16:creationId xmlns:a16="http://schemas.microsoft.com/office/drawing/2014/main" id="{50530394-7BD6-0CDD-476B-1D83AF5727AD}"/>
              </a:ext>
            </a:extLst>
          </p:cNvPr>
          <p:cNvSpPr/>
          <p:nvPr/>
        </p:nvSpPr>
        <p:spPr bwMode="auto">
          <a:xfrm>
            <a:off x="5521923" y="2465955"/>
            <a:ext cx="498764" cy="484632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0477376" name="Google Shape;1250;p33">
                <a:extLst>
                  <a:ext uri="{FF2B5EF4-FFF2-40B4-BE49-F238E27FC236}">
                    <a16:creationId xmlns:a16="http://schemas.microsoft.com/office/drawing/2014/main" id="{8AB18371-BE8F-0CCC-D27E-E3193D69C72B}"/>
                  </a:ext>
                </a:extLst>
              </p:cNvPr>
              <p:cNvSpPr txBox="1"/>
              <p:nvPr/>
            </p:nvSpPr>
            <p:spPr bwMode="auto">
              <a:xfrm>
                <a:off x="6143469" y="2159647"/>
                <a:ext cx="3224645" cy="4250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9pPr>
              </a:lstStyle>
              <a:p>
                <a:pPr marL="0" indent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>
                          <a:latin typeface="Cambria Math"/>
                        </a:rPr>
                        <m:t>𝑥</m:t>
                      </m:r>
                      <m:d>
                        <m:dPr>
                          <m:ctrlPr>
                            <a:rPr lang="fr-CH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fr-CH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/>
                        </a:rPr>
                        <m:t>+</m:t>
                      </m:r>
                      <m:r>
                        <a:rPr lang="fr-CH" i="1">
                          <a:latin typeface="Cambria Math"/>
                        </a:rPr>
                        <m:t>𝑣</m:t>
                      </m:r>
                      <m:r>
                        <a:rPr lang="fr-CH">
                          <a:latin typeface="Cambria Math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/>
                        </a:rPr>
                        <m:t>⋅</m:t>
                      </m:r>
                      <m:r>
                        <a:rPr lang="fr-CH" i="1">
                          <a:latin typeface="Cambria Math"/>
                        </a:rPr>
                        <m:t>𝑡</m:t>
                      </m:r>
                    </m:oMath>
                  </m:oMathPara>
                </a14:m>
                <a:endParaRPr lang="fr-CH"/>
              </a:p>
              <a:p>
                <a:pPr marL="0" indent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>
                          <a:latin typeface="Cambria Math"/>
                        </a:rPr>
                        <m:t>𝑦</m:t>
                      </m:r>
                      <m:d>
                        <m:dPr>
                          <m:ctrlPr>
                            <a:rPr lang="fr-CH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fr-CH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/>
                        </a:rPr>
                        <m:t>+</m:t>
                      </m:r>
                      <m:r>
                        <a:rPr lang="fr-CH" i="1">
                          <a:latin typeface="Cambria Math"/>
                        </a:rPr>
                        <m:t>𝑣</m:t>
                      </m:r>
                      <m:r>
                        <a:rPr lang="fr-CH">
                          <a:latin typeface="Cambria Math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/>
                        </a:rPr>
                        <m:t>⋅</m:t>
                      </m:r>
                      <m:r>
                        <a:rPr lang="fr-CH" i="1">
                          <a:latin typeface="Cambria Math"/>
                        </a:rPr>
                        <m:t>𝑡</m:t>
                      </m:r>
                      <m:r>
                        <a:rPr lang="fr-CH">
                          <a:latin typeface="Cambria Math"/>
                        </a:rPr>
                        <m:t>+</m:t>
                      </m:r>
                      <m:f>
                        <m:fPr>
                          <m:ctrlPr>
                            <a:rPr lang="fr-CH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fr-CH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fr-CH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fr-CH" i="1">
                          <a:latin typeface="Cambria Math"/>
                        </a:rPr>
                        <m:t>𝑔</m:t>
                      </m:r>
                      <m:sSup>
                        <m:sSupPr>
                          <m:ctrlPr>
                            <a:rPr lang="fr-CH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</m:e>
                        <m:sup>
                          <m:r>
                            <a:rPr lang="fr-CH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CH"/>
              </a:p>
              <a:p>
                <a:pPr marL="0" indent="0">
                  <a:defRPr/>
                </a:pPr>
                <a:r>
                  <a:rPr lang="en-US"/>
                  <a:t>Ballistics</a:t>
                </a:r>
                <a:endParaRPr/>
              </a:p>
            </p:txBody>
          </p:sp>
        </mc:Choice>
        <mc:Fallback xmlns="">
          <p:sp>
            <p:nvSpPr>
              <p:cNvPr id="1900477376" name="Google Shape;1250;p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43469" y="2159647"/>
                <a:ext cx="3224645" cy="425021"/>
              </a:xfrm>
              <a:prstGeom prst="rect">
                <a:avLst/>
              </a:prstGeom>
              <a:blipFill>
                <a:blip r:embed="rId4"/>
                <a:stretch>
                  <a:fillRect l="-1134" b="-1742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5600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203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"/>
                                        <p:tgtEl>
                                          <p:spTgt spid="1155203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"/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"/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"/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  <p:bldP spid="54948589" grpId="1" uiExpand="1" build="p"/>
      <p:bldP spid="1155203805" grpId="0" animBg="1"/>
      <p:bldP spid="1900477376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25954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123648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8492449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0100255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8115879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78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the plan</a:t>
            </a:r>
            <a:endParaRPr i="1"/>
          </a:p>
        </p:txBody>
      </p:sp>
      <p:sp>
        <p:nvSpPr>
          <p:cNvPr id="153711786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6658900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5632811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279829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05959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Planification - Prototype</a:t>
            </a:r>
            <a:endParaRPr i="1"/>
          </a:p>
        </p:txBody>
      </p:sp>
      <p:sp>
        <p:nvSpPr>
          <p:cNvPr id="173559131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97626000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26739" y="1468913"/>
            <a:ext cx="5057775" cy="2057400"/>
          </a:xfrm>
          <a:prstGeom prst="rect">
            <a:avLst/>
          </a:prstGeom>
        </p:spPr>
      </p:pic>
      <p:pic>
        <p:nvPicPr>
          <p:cNvPr id="438381855" name="Image 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40823" y="1487678"/>
            <a:ext cx="3705742" cy="20386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8299051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aphicFrame>
        <p:nvGraphicFramePr>
          <p:cNvPr id="1996668473" name="Google Shape;1203;p31"/>
          <p:cNvGraphicFramePr>
            <a:graphicFrameLocks/>
          </p:cNvGraphicFramePr>
          <p:nvPr/>
        </p:nvGraphicFramePr>
        <p:xfrm>
          <a:off x="727855" y="1684737"/>
          <a:ext cx="6449033" cy="5525850"/>
        </p:xfrm>
        <a:graphic>
          <a:graphicData uri="http://schemas.openxmlformats.org/drawingml/2006/table">
            <a:tbl>
              <a:tblPr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Fix some issues</a:t>
                      </a:r>
                      <a:endParaRPr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Detect instruments</a:t>
                      </a:r>
                      <a:endParaRPr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Add more animations</a:t>
                      </a:r>
                      <a:endParaRPr/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28575" algn="ctr">
                      <a:solidFill>
                        <a:srgbClr val="B33C3C">
                          <a:alpha val="0"/>
                        </a:srgb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7071106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511094198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1068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2016860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32152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446159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68075990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23029026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13839065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69206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152398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17987136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68701534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548314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136588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516852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994102507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44542900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2101354220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526069674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64176052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99751154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770743235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8614426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0378335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7007612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335490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0438091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06314552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127648457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074785379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697</Words>
  <Application>Microsoft Office PowerPoint</Application>
  <PresentationFormat>Affichage à l'écran (16:9)</PresentationFormat>
  <Paragraphs>125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6" baseType="lpstr">
      <vt:lpstr>Abel</vt:lpstr>
      <vt:lpstr>Bakbak One</vt:lpstr>
      <vt:lpstr>Arial</vt:lpstr>
      <vt:lpstr>Wingdings</vt:lpstr>
      <vt:lpstr>Abhaya Libre</vt:lpstr>
      <vt:lpstr>Cambria Math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Animation</vt:lpstr>
      <vt:lpstr>Contrast with the plan</vt:lpstr>
      <vt:lpstr>Planification - Prototype</vt:lpstr>
      <vt:lpstr>Contrast with plan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36</cp:revision>
  <dcterms:modified xsi:type="dcterms:W3CDTF">2026-08-27T09:25:09Z</dcterms:modified>
</cp:coreProperties>
</file>