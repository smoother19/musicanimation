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3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144000" cy="5143500" type="screen16x9"/>
  <p:notesSz cx="6858000" cy="9144000"/>
  <p:embeddedFontLst>
    <p:embeddedFont>
      <p:font typeface="Abel" panose="02000506030000020004" pitchFamily="2" charset="0"/>
      <p:regular r:id="rId21"/>
    </p:embeddedFont>
    <p:embeddedFont>
      <p:font typeface="Cambria Math" panose="02040503050406030204" pitchFamily="18" charset="0"/>
      <p:regular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6DBDB-1F74-4361-BF75-D81A5296C669}">
  <a:tblStyle styleId="{C546DBDB-1F74-4361-BF75-D81A5296C669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5" d="100"/>
          <a:sy n="155" d="100"/>
        </p:scale>
        <p:origin x="354" y="114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599452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1707355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822398" name="Google Shape;1092;g18a80d34a48_2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2957812" name="Google Shape;1093;g18a80d34a48_2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304259" name="Google Shape;1211;g15207a17831_0_14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940421" name="Google Shape;1212;g15207a17831_0_14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7250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043344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2493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756887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751598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0999" y="685800"/>
            <a:ext cx="6095999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582262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375588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900809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631561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7329648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B662C42-B8A0-0164-5A63-4CB9E2EE278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24939" name="Google Shape;1244;g152a7caf94b_1_413:notes">
            <a:extLst>
              <a:ext uri="{FF2B5EF4-FFF2-40B4-BE49-F238E27FC236}">
                <a16:creationId xmlns:a16="http://schemas.microsoft.com/office/drawing/2014/main" id="{B5FFA89B-77F2-7B27-8F78-1F6CA9142E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756887" name="Google Shape;1245;g152a7caf94b_1_413:notes">
            <a:extLst>
              <a:ext uri="{FF2B5EF4-FFF2-40B4-BE49-F238E27FC236}">
                <a16:creationId xmlns:a16="http://schemas.microsoft.com/office/drawing/2014/main" id="{863636BA-1402-B629-E30C-BF4A13702AB5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7360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55509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262845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8457792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071676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The train isn’t draw but described, he can be nuild with a seed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I use a trivial grammar system to build it =&gt; a train is only a locomotive with several wagons choose between 5 types of différents probalities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The train can move forward or backward depending of it’s acceleration =&gt; I use this when I have more/less notes incoming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A smoke system is used with the train to add more animation (not sync with the music for the moment)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fr-F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5364636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574873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- Whole visual is in triangle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Base class TriangularShape =&gt; which trangles am I made of ? (list_triangles)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Derived Shapes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Composition to move shapes =&gt; Group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642730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7720450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23079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mc:AlternateContent>
                  <mc:Choice Requires="a14">
                    <a14:m>
                      <m:oMath xmlns:m="http://schemas.openxmlformats.org/officeDocument/2006/math">
                        <m:f>
                          <m:fPr>
                            <m:ctrlPr>
                              <a:rPr lang="fr-CH" sz="1100" b="0" i="0" u="none" strike="noStrike" cap="none" spc="0">
                                <a:solidFill>
                                  <a:srgbClr val="000000"/>
                                </a:solidFill>
                                <a:latin typeface="Cambria Math"/>
                                <a:ea typeface="Arial"/>
                                <a:cs typeface="Arial"/>
                              </a:rPr>
                            </m:ctrlPr>
                          </m:fPr>
                          <m:num>
                            <m:r>
                              <a:rPr lang="fr-CH" sz="1100" b="0" i="0" u="none" strike="noStrike" cap="none" spc="0">
                                <a:solidFill>
                                  <a:srgbClr val="000000"/>
                                </a:solidFill>
                                <a:latin typeface="Cambria Math"/>
                                <a:ea typeface="Arial"/>
                                <a:cs typeface="Arial"/>
                              </a:rPr>
                              <m:t>1</m:t>
                            </m:r>
                          </m:num>
                          <m:den>
                            <m:r>
                              <a:rPr lang="fr-CH" sz="1100" b="0" i="0" u="none" strike="noStrike" cap="none" spc="0">
                                <a:solidFill>
                                  <a:srgbClr val="000000"/>
                                </a:solidFill>
                                <a:latin typeface="Cambria Math"/>
                                <a:ea typeface="Arial"/>
                                <a:cs typeface="Arial"/>
                              </a:rPr>
                              <m:t>2</m:t>
                            </m:r>
                          </m:den>
                        </m:f>
                        <m: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/>
                            <a:ea typeface="Arial"/>
                            <a:cs typeface="Arial"/>
                          </a:rPr>
                          <m:t>𝑔</m:t>
                        </m:r>
                        <m:sSup>
                          <m:sSupPr>
                            <m:ctrlPr>
                              <a:rPr lang="fr-CH" sz="1100" b="0" i="1" u="none" strike="noStrike" cap="none" spc="0">
                                <a:solidFill>
                                  <a:srgbClr val="000000"/>
                                </a:solidFill>
                                <a:latin typeface="Cambria Math"/>
                                <a:ea typeface="Arial"/>
                                <a:cs typeface="Arial"/>
                              </a:rPr>
                            </m:ctrlPr>
                          </m:sSupPr>
                          <m:e>
                            <m:r>
                              <a:rPr lang="fr-CH" sz="1100" b="0" i="1" u="none" strike="noStrike" cap="none" spc="0">
                                <a:solidFill>
                                  <a:srgbClr val="000000"/>
                                </a:solidFill>
                                <a:latin typeface="Cambria Math"/>
                                <a:ea typeface="Arial"/>
                                <a:cs typeface="Arial"/>
                              </a:rPr>
                              <m:t>𝑡</m:t>
                            </m:r>
                          </m:e>
                          <m:sup>
                            <m:r>
                              <a:rPr lang="fr-CH" sz="1100" b="0" i="0" u="none" strike="noStrike" cap="none" spc="0">
                                <a:solidFill>
                                  <a:srgbClr val="000000"/>
                                </a:solidFill>
                                <a:latin typeface="Cambria Math"/>
                                <a:ea typeface="Arial"/>
                                <a:cs typeface="Arial"/>
                              </a:rPr>
                              <m:t>2</m:t>
                            </m:r>
                          </m:sup>
                        </m:sSup>
                      </m:oMath>
                    </a14:m>
                  </mc:Choice>
                  <mc:Fallback xmlns:m="http://schemas.openxmlformats.org/officeDocument/2006/math" xmlns:w="http://schemas.openxmlformats.org/wordprocessingml/2006/main" xmlns=""/>
                </mc:AlternateContent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Choice>
        <mc:Fallback xmlns="">
          <p:sp>
            <p:nvSpPr>
              <p:cNvPr id="746391637" name="Google Shape;1245;g152a7caf94b_1_413:notes"/>
              <p:cNvSpPr txBox="1">
                <a:spLocks noGrp="1"/>
              </p:cNvSpPr>
              <p:nvPr>
                <p:ph type="body" idx="1"/>
              </p:nvPr>
            </p:nvSpPr>
            <p:spPr bwMode="auto"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  <a:endParaRPr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endParaRPr lang="en-US"/>
              </a:p>
              <a:p>
                <a:pPr marL="0" marR="0" lvl="0" indent="0" algn="l" defTabSz="9144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defRPr/>
                </a:pPr>
                <a:r>
                  <a:rPr lang="en-US"/>
                  <a:t>L’</a:t>
                </a:r>
                <a:r>
                  <a:rPr lang="fr-CH"/>
                  <a:t> 'ajout du terme 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1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/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 𝑔𝑡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 panose="02040503050406030204" pitchFamily="18" charset="0"/>
                    <a:ea typeface="Arial"/>
                    <a:cs typeface="Arial"/>
                  </a:rPr>
                  <a:t>^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Cambria Math"/>
                    <a:ea typeface="Arial"/>
                    <a:cs typeface="Arial"/>
                  </a:rPr>
                  <a:t>2</a:t>
                </a:r>
                <a:r>
                  <a:rPr lang="fr-CH"/>
                  <a:t>courbe la chute vers le bas pour simuler la gravité de manière réaliste.</a:t>
                </a:r>
                <a:endParaRPr/>
              </a:p>
            </p:txBody>
          </p:sp>
        </mc:Fallback>
      </mc:AlternateContent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241783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310806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7830802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780060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887232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970594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8148513" name="Google Shape;1196;g15207a17831_0_17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5549038" name="Google Shape;1197;g15207a17831_0_17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779758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3910099" name="Google Shape;2297;g152a7caf94b_1_277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76162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233653249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231187517" name="Google Shape;11;p2"/>
          <p:cNvSpPr/>
          <p:nvPr/>
        </p:nvSpPr>
        <p:spPr bwMode="auto"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262204" name="Google Shape;12;p2"/>
          <p:cNvSpPr/>
          <p:nvPr/>
        </p:nvSpPr>
        <p:spPr bwMode="auto"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518647" name="Google Shape;14;p3"/>
          <p:cNvSpPr txBox="1">
            <a:spLocks noGrp="1"/>
          </p:cNvSpPr>
          <p:nvPr>
            <p:ph type="title"/>
          </p:nvPr>
        </p:nvSpPr>
        <p:spPr bwMode="auto"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943674880" name="Google Shape;15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713225" y="686500"/>
            <a:ext cx="1303200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491062397" name="Google Shape;16;p3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07370074" name="Google Shape;17;p3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2536210" name="Google Shape;44;p6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1318378796" name="Google Shape;45;p6"/>
          <p:cNvGrpSpPr/>
          <p:nvPr/>
        </p:nvGrpSpPr>
        <p:grpSpPr bwMode="auto">
          <a:xfrm>
            <a:off x="-613275" y="4743925"/>
            <a:ext cx="9800100" cy="1657575"/>
            <a:chOff x="-613275" y="3559275"/>
            <a:chExt cx="9800100" cy="1657575"/>
          </a:xfrm>
        </p:grpSpPr>
        <p:sp>
          <p:nvSpPr>
            <p:cNvPr id="46" name="Google Shape;46;p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51" name="Google Shape;51;p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52" name="Google Shape;52;p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53" name="Google Shape;53;p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4" name="Google Shape;54;p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5" name="Google Shape;55;p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6" name="Google Shape;56;p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7" name="Google Shape;57;p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8" name="Google Shape;58;p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1888316931" name="Google Shape;59;p6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87560492" name="Google Shape;60;p6"/>
          <p:cNvSpPr/>
          <p:nvPr/>
        </p:nvSpPr>
        <p:spPr bwMode="auto">
          <a:xfrm rot="-2231248" flipH="1">
            <a:off x="7192518" y="4451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519839" name="Google Shape;247;p9"/>
          <p:cNvSpPr txBox="1">
            <a:spLocks noGrp="1"/>
          </p:cNvSpPr>
          <p:nvPr>
            <p:ph type="title"/>
          </p:nvPr>
        </p:nvSpPr>
        <p:spPr bwMode="auto"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103355355" name="Google Shape;248;p9"/>
          <p:cNvSpPr txBox="1">
            <a:spLocks noGrp="1"/>
          </p:cNvSpPr>
          <p:nvPr>
            <p:ph type="subTitle" idx="1"/>
          </p:nvPr>
        </p:nvSpPr>
        <p:spPr bwMode="auto"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650675672" name="Google Shape;249;p9"/>
          <p:cNvSpPr/>
          <p:nvPr/>
        </p:nvSpPr>
        <p:spPr bwMode="auto"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84965917" name="Google Shape;250;p9"/>
          <p:cNvSpPr/>
          <p:nvPr/>
        </p:nvSpPr>
        <p:spPr bwMode="auto"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30161109" name="Google Shape;251;p9"/>
          <p:cNvSpPr/>
          <p:nvPr/>
        </p:nvSpPr>
        <p:spPr bwMode="auto"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20430587" name="Google Shape;252;p9"/>
          <p:cNvSpPr/>
          <p:nvPr/>
        </p:nvSpPr>
        <p:spPr bwMode="auto"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34925073" name="Google Shape;253;p9"/>
          <p:cNvSpPr/>
          <p:nvPr/>
        </p:nvSpPr>
        <p:spPr bwMode="auto">
          <a:xfrm>
            <a:off x="3559000" y="3196325"/>
            <a:ext cx="6828924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88400849" name="Google Shape;254;p9"/>
          <p:cNvSpPr/>
          <p:nvPr/>
        </p:nvSpPr>
        <p:spPr bwMode="auto"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44082402" name="Google Shape;255;p9"/>
          <p:cNvSpPr/>
          <p:nvPr/>
        </p:nvSpPr>
        <p:spPr bwMode="auto"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11382093" name="Google Shape;256;p9"/>
          <p:cNvSpPr/>
          <p:nvPr/>
        </p:nvSpPr>
        <p:spPr bwMode="auto"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9785696" name="Google Shape;257;p9"/>
          <p:cNvSpPr/>
          <p:nvPr/>
        </p:nvSpPr>
        <p:spPr bwMode="auto"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24354668" name="Google Shape;258;p9"/>
          <p:cNvSpPr/>
          <p:nvPr/>
        </p:nvSpPr>
        <p:spPr bwMode="auto"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0255051" name="Google Shape;259;p9"/>
          <p:cNvSpPr/>
          <p:nvPr/>
        </p:nvSpPr>
        <p:spPr bwMode="auto"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68012858" name="Google Shape;260;p9"/>
          <p:cNvSpPr/>
          <p:nvPr/>
        </p:nvSpPr>
        <p:spPr bwMode="auto"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47040447" name="Google Shape;261;p9"/>
          <p:cNvSpPr/>
          <p:nvPr/>
        </p:nvSpPr>
        <p:spPr bwMode="auto">
          <a:xfrm>
            <a:off x="1582074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20335178" name="Google Shape;262;p9"/>
          <p:cNvSpPr/>
          <p:nvPr/>
        </p:nvSpPr>
        <p:spPr bwMode="auto"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33104800" name="Google Shape;263;p9"/>
          <p:cNvGrpSpPr/>
          <p:nvPr/>
        </p:nvGrpSpPr>
        <p:grpSpPr bwMode="auto"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 bwMode="auto"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 bwMode="auto"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 bwMode="auto"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 bwMode="auto"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 bwMode="auto">
                  <a:xfrm rot="5400000">
                    <a:off x="-497049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 bwMode="auto"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 bwMode="auto"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 bwMode="auto"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 bwMode="auto"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 bwMode="auto"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 bwMode="auto"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 bwMode="auto"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 bwMode="auto"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 bwMode="auto"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 bwMode="auto"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 bwMode="auto"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 bwMode="auto"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 bwMode="auto"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 bwMode="auto"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 bwMode="auto"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 bwMode="auto"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 bwMode="auto"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 bwMode="auto">
            <a:xfrm>
              <a:off x="6356774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 bwMode="auto"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 bwMode="auto"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 bwMode="auto"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 bwMode="auto"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 bwMode="auto"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 bwMode="auto"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 bwMode="auto"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 bwMode="auto"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526287688" name="Google Shape;295;p9"/>
          <p:cNvGrpSpPr/>
          <p:nvPr/>
        </p:nvGrpSpPr>
        <p:grpSpPr bwMode="auto"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 bwMode="auto"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 bwMode="auto"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 bwMode="auto"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 bwMode="auto"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 bwMode="auto"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 bwMode="auto"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 bwMode="auto"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 bwMode="auto">
            <a:xfrm>
              <a:off x="1512324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 bwMode="auto"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 bwMode="auto"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 bwMode="auto"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 bwMode="auto"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 bwMode="auto">
            <a:xfrm>
              <a:off x="2384450" y="4072199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 bwMode="auto"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 bwMode="auto"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 bwMode="auto"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 bwMode="auto"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 bwMode="auto"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 bwMode="auto"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 bwMode="auto"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 bwMode="auto"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 bwMode="auto"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 bwMode="auto"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 bwMode="auto"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 bwMode="auto"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 bwMode="auto"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 bwMode="auto">
            <a:xfrm>
              <a:off x="2911650" y="4871450"/>
              <a:ext cx="20799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 bwMode="auto"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2063970616" name="Google Shape;324;p9"/>
          <p:cNvGrpSpPr/>
          <p:nvPr/>
        </p:nvGrpSpPr>
        <p:grpSpPr bwMode="auto"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812266906" name="Google Shape;344;p9"/>
          <p:cNvSpPr/>
          <p:nvPr/>
        </p:nvSpPr>
        <p:spPr bwMode="auto">
          <a:xfrm>
            <a:off x="1582074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3929314" name="Google Shape;345;p9"/>
          <p:cNvSpPr/>
          <p:nvPr/>
        </p:nvSpPr>
        <p:spPr bwMode="auto"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50021032" name="Google Shape;346;p9"/>
          <p:cNvSpPr/>
          <p:nvPr/>
        </p:nvSpPr>
        <p:spPr bwMode="auto"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able of contents" userDrawn="1">
  <p:cSld name="CUSTOM_26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039767" name="Google Shape;383;p13"/>
          <p:cNvSpPr txBox="1">
            <a:spLocks noGrp="1"/>
          </p:cNvSpPr>
          <p:nvPr>
            <p:ph type="title" hasCustomPrompt="1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590713534" name="Google Shape;384;p13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8854210" name="Google Shape;385;p13"/>
          <p:cNvSpPr txBox="1">
            <a:spLocks noGrp="1"/>
          </p:cNvSpPr>
          <p:nvPr>
            <p:ph type="subTitle" idx="2"/>
          </p:nvPr>
        </p:nvSpPr>
        <p:spPr bwMode="auto">
          <a:xfrm flipH="1">
            <a:off x="1451400" y="175102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2112582238" name="Google Shape;386;p13"/>
          <p:cNvSpPr txBox="1">
            <a:spLocks noGrp="1"/>
          </p:cNvSpPr>
          <p:nvPr>
            <p:ph type="title" idx="3" hasCustomPrompt="1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2067489893" name="Google Shape;387;p13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25628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93722804" name="Google Shape;388;p13"/>
          <p:cNvSpPr txBox="1">
            <a:spLocks noGrp="1"/>
          </p:cNvSpPr>
          <p:nvPr>
            <p:ph type="subTitle" idx="5"/>
          </p:nvPr>
        </p:nvSpPr>
        <p:spPr bwMode="auto">
          <a:xfrm flipH="1">
            <a:off x="1451400" y="3031578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202215622" name="Google Shape;389;p13"/>
          <p:cNvSpPr txBox="1">
            <a:spLocks noGrp="1"/>
          </p:cNvSpPr>
          <p:nvPr>
            <p:ph type="title" idx="6" hasCustomPrompt="1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574245337" name="Google Shape;390;p13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494128185" name="Google Shape;391;p13"/>
          <p:cNvSpPr txBox="1">
            <a:spLocks noGrp="1"/>
          </p:cNvSpPr>
          <p:nvPr>
            <p:ph type="subTitle" idx="8"/>
          </p:nvPr>
        </p:nvSpPr>
        <p:spPr bwMode="auto">
          <a:xfrm>
            <a:off x="4493876" y="175103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902238155" name="Google Shape;392;p13"/>
          <p:cNvSpPr txBox="1">
            <a:spLocks noGrp="1"/>
          </p:cNvSpPr>
          <p:nvPr>
            <p:ph type="title" idx="9" hasCustomPrompt="1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613776666" name="Google Shape;393;p13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25627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8296136" name="Google Shape;394;p13"/>
          <p:cNvSpPr txBox="1">
            <a:spLocks noGrp="1"/>
          </p:cNvSpPr>
          <p:nvPr>
            <p:ph type="subTitle" idx="14"/>
          </p:nvPr>
        </p:nvSpPr>
        <p:spPr bwMode="auto">
          <a:xfrm>
            <a:off x="4493876" y="3031576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944953562" name="Google Shape;395;p13"/>
          <p:cNvSpPr txBox="1">
            <a:spLocks noGrp="1"/>
          </p:cNvSpPr>
          <p:nvPr>
            <p:ph type="title" idx="15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30897292" name="Google Shape;396;p13"/>
          <p:cNvSpPr/>
          <p:nvPr/>
        </p:nvSpPr>
        <p:spPr bwMode="auto">
          <a:xfrm>
            <a:off x="-83800" y="3912100"/>
            <a:ext cx="5820894" cy="988500"/>
          </a:xfrm>
          <a:custGeom>
            <a:avLst/>
            <a:gdLst/>
            <a:ahLst/>
            <a:cxnLst/>
            <a:rect l="l" t="t" r="r" b="b"/>
            <a:pathLst>
              <a:path w="154739" h="39540" extrusionOk="0">
                <a:moveTo>
                  <a:pt x="0" y="4425"/>
                </a:moveTo>
                <a:lnTo>
                  <a:pt x="4107" y="39539"/>
                </a:lnTo>
                <a:lnTo>
                  <a:pt x="154739" y="39539"/>
                </a:lnTo>
                <a:cubicBezTo>
                  <a:pt x="154739" y="39539"/>
                  <a:pt x="149325" y="38270"/>
                  <a:pt x="145535" y="37019"/>
                </a:cubicBezTo>
                <a:lnTo>
                  <a:pt x="145535" y="37019"/>
                </a:lnTo>
                <a:cubicBezTo>
                  <a:pt x="141727" y="35750"/>
                  <a:pt x="124963" y="31643"/>
                  <a:pt x="114939" y="31643"/>
                </a:cubicBezTo>
                <a:lnTo>
                  <a:pt x="114939" y="31643"/>
                </a:lnTo>
                <a:cubicBezTo>
                  <a:pt x="104914" y="31643"/>
                  <a:pt x="100602" y="27835"/>
                  <a:pt x="94404" y="23093"/>
                </a:cubicBezTo>
                <a:lnTo>
                  <a:pt x="94404" y="23093"/>
                </a:lnTo>
                <a:cubicBezTo>
                  <a:pt x="88206" y="18351"/>
                  <a:pt x="81318" y="13610"/>
                  <a:pt x="73496" y="13292"/>
                </a:cubicBezTo>
                <a:lnTo>
                  <a:pt x="73496" y="13292"/>
                </a:lnTo>
                <a:cubicBezTo>
                  <a:pt x="65693" y="12975"/>
                  <a:pt x="68343" y="12023"/>
                  <a:pt x="62650" y="8849"/>
                </a:cubicBezTo>
                <a:lnTo>
                  <a:pt x="62650" y="8849"/>
                </a:lnTo>
                <a:cubicBezTo>
                  <a:pt x="56956" y="5694"/>
                  <a:pt x="49993" y="6647"/>
                  <a:pt x="45867" y="6329"/>
                </a:cubicBezTo>
                <a:lnTo>
                  <a:pt x="45867" y="6329"/>
                </a:lnTo>
                <a:cubicBezTo>
                  <a:pt x="41760" y="6012"/>
                  <a:pt x="33546" y="1"/>
                  <a:pt x="21898" y="1"/>
                </a:cubicBezTo>
                <a:lnTo>
                  <a:pt x="21898" y="1"/>
                </a:lnTo>
                <a:cubicBezTo>
                  <a:pt x="10267" y="1"/>
                  <a:pt x="0" y="4425"/>
                  <a:pt x="0" y="4425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3787899" name="Google Shape;397;p13"/>
          <p:cNvSpPr/>
          <p:nvPr/>
        </p:nvSpPr>
        <p:spPr bwMode="auto">
          <a:xfrm>
            <a:off x="-83800" y="4182800"/>
            <a:ext cx="4226815" cy="717800"/>
          </a:xfrm>
          <a:custGeom>
            <a:avLst/>
            <a:gdLst/>
            <a:ahLst/>
            <a:cxnLst/>
            <a:rect l="l" t="t" r="r" b="b"/>
            <a:pathLst>
              <a:path w="112363" h="28712" extrusionOk="0">
                <a:moveTo>
                  <a:pt x="0" y="3211"/>
                </a:moveTo>
                <a:cubicBezTo>
                  <a:pt x="0" y="3211"/>
                  <a:pt x="7467" y="0"/>
                  <a:pt x="15905" y="0"/>
                </a:cubicBezTo>
                <a:cubicBezTo>
                  <a:pt x="24362" y="0"/>
                  <a:pt x="30336" y="4368"/>
                  <a:pt x="33322" y="4592"/>
                </a:cubicBezTo>
                <a:cubicBezTo>
                  <a:pt x="36309" y="4816"/>
                  <a:pt x="41350" y="4144"/>
                  <a:pt x="45494" y="6441"/>
                </a:cubicBezTo>
                <a:cubicBezTo>
                  <a:pt x="49619" y="8737"/>
                  <a:pt x="47697" y="9427"/>
                  <a:pt x="53372" y="9651"/>
                </a:cubicBezTo>
                <a:cubicBezTo>
                  <a:pt x="59047" y="9875"/>
                  <a:pt x="64050" y="13329"/>
                  <a:pt x="68549" y="16764"/>
                </a:cubicBezTo>
                <a:cubicBezTo>
                  <a:pt x="73048" y="20217"/>
                  <a:pt x="76184" y="22980"/>
                  <a:pt x="83464" y="22980"/>
                </a:cubicBezTo>
                <a:cubicBezTo>
                  <a:pt x="90745" y="22980"/>
                  <a:pt x="102916" y="25967"/>
                  <a:pt x="105679" y="26882"/>
                </a:cubicBezTo>
                <a:cubicBezTo>
                  <a:pt x="108442" y="27797"/>
                  <a:pt x="112362" y="28711"/>
                  <a:pt x="112362" y="28711"/>
                </a:cubicBezTo>
                <a:lnTo>
                  <a:pt x="2987" y="2871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40373951" name="Google Shape;398;p13"/>
          <p:cNvSpPr/>
          <p:nvPr/>
        </p:nvSpPr>
        <p:spPr bwMode="auto">
          <a:xfrm>
            <a:off x="-277150" y="4902900"/>
            <a:ext cx="8483374" cy="709400"/>
          </a:xfrm>
          <a:custGeom>
            <a:avLst/>
            <a:gdLst/>
            <a:ahLst/>
            <a:cxnLst/>
            <a:rect l="l" t="t" r="r" b="b"/>
            <a:pathLst>
              <a:path w="220376" h="28376" extrusionOk="0">
                <a:moveTo>
                  <a:pt x="0" y="25202"/>
                </a:moveTo>
                <a:cubicBezTo>
                  <a:pt x="0" y="25202"/>
                  <a:pt x="14617" y="28376"/>
                  <a:pt x="31194" y="28376"/>
                </a:cubicBezTo>
                <a:cubicBezTo>
                  <a:pt x="47771" y="28376"/>
                  <a:pt x="59476" y="24064"/>
                  <a:pt x="65338" y="23840"/>
                </a:cubicBezTo>
                <a:cubicBezTo>
                  <a:pt x="71200" y="23616"/>
                  <a:pt x="81112" y="24288"/>
                  <a:pt x="89214" y="22010"/>
                </a:cubicBezTo>
                <a:cubicBezTo>
                  <a:pt x="97316" y="19751"/>
                  <a:pt x="93564" y="19061"/>
                  <a:pt x="104671" y="18837"/>
                </a:cubicBezTo>
                <a:cubicBezTo>
                  <a:pt x="115797" y="18613"/>
                  <a:pt x="125635" y="15215"/>
                  <a:pt x="134447" y="11799"/>
                </a:cubicBezTo>
                <a:cubicBezTo>
                  <a:pt x="143277" y="8401"/>
                  <a:pt x="149400" y="5676"/>
                  <a:pt x="163699" y="5676"/>
                </a:cubicBezTo>
                <a:cubicBezTo>
                  <a:pt x="177980" y="5676"/>
                  <a:pt x="201856" y="2726"/>
                  <a:pt x="207251" y="1811"/>
                </a:cubicBezTo>
                <a:cubicBezTo>
                  <a:pt x="212665" y="897"/>
                  <a:pt x="220375" y="1"/>
                  <a:pt x="220375" y="1"/>
                </a:cubicBezTo>
                <a:lnTo>
                  <a:pt x="586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24689875" name="Google Shape;399;p13"/>
          <p:cNvSpPr/>
          <p:nvPr/>
        </p:nvSpPr>
        <p:spPr bwMode="auto">
          <a:xfrm>
            <a:off x="5541063" y="4853100"/>
            <a:ext cx="610000" cy="361725"/>
          </a:xfrm>
          <a:custGeom>
            <a:avLst/>
            <a:gdLst/>
            <a:ahLst/>
            <a:cxnLst/>
            <a:rect l="l" t="t" r="r" b="b"/>
            <a:pathLst>
              <a:path w="24400" h="14469" extrusionOk="0">
                <a:moveTo>
                  <a:pt x="3025" y="10287"/>
                </a:moveTo>
                <a:cubicBezTo>
                  <a:pt x="355" y="7841"/>
                  <a:pt x="0" y="14468"/>
                  <a:pt x="0" y="14468"/>
                </a:cubicBezTo>
                <a:lnTo>
                  <a:pt x="0" y="14468"/>
                </a:lnTo>
                <a:lnTo>
                  <a:pt x="23634" y="14095"/>
                </a:lnTo>
                <a:cubicBezTo>
                  <a:pt x="23634" y="14095"/>
                  <a:pt x="24399" y="8439"/>
                  <a:pt x="22962" y="9988"/>
                </a:cubicBezTo>
                <a:lnTo>
                  <a:pt x="22962" y="9988"/>
                </a:lnTo>
                <a:cubicBezTo>
                  <a:pt x="21525" y="11519"/>
                  <a:pt x="20759" y="11724"/>
                  <a:pt x="20759" y="8215"/>
                </a:cubicBezTo>
                <a:lnTo>
                  <a:pt x="20759" y="8215"/>
                </a:lnTo>
                <a:cubicBezTo>
                  <a:pt x="20759" y="4686"/>
                  <a:pt x="18314" y="5153"/>
                  <a:pt x="16970" y="7599"/>
                </a:cubicBezTo>
                <a:lnTo>
                  <a:pt x="16970" y="7599"/>
                </a:lnTo>
                <a:cubicBezTo>
                  <a:pt x="15607" y="10044"/>
                  <a:pt x="17623" y="4070"/>
                  <a:pt x="14449" y="3118"/>
                </a:cubicBezTo>
                <a:lnTo>
                  <a:pt x="14449" y="3118"/>
                </a:lnTo>
                <a:cubicBezTo>
                  <a:pt x="12620" y="2577"/>
                  <a:pt x="11967" y="4089"/>
                  <a:pt x="11556" y="5601"/>
                </a:cubicBezTo>
                <a:lnTo>
                  <a:pt x="11556" y="5601"/>
                </a:lnTo>
                <a:cubicBezTo>
                  <a:pt x="11201" y="6908"/>
                  <a:pt x="11052" y="8215"/>
                  <a:pt x="10548" y="8215"/>
                </a:cubicBezTo>
                <a:lnTo>
                  <a:pt x="10548" y="8215"/>
                </a:lnTo>
                <a:cubicBezTo>
                  <a:pt x="7748" y="8121"/>
                  <a:pt x="12172" y="1"/>
                  <a:pt x="7598" y="1"/>
                </a:cubicBezTo>
                <a:lnTo>
                  <a:pt x="7598" y="1"/>
                </a:lnTo>
                <a:cubicBezTo>
                  <a:pt x="1008" y="1"/>
                  <a:pt x="5694" y="12751"/>
                  <a:pt x="3025" y="10287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70463461" name="Google Shape;400;p13"/>
          <p:cNvGrpSpPr/>
          <p:nvPr/>
        </p:nvGrpSpPr>
        <p:grpSpPr bwMode="auto">
          <a:xfrm>
            <a:off x="-139125" y="3868275"/>
            <a:ext cx="9194843" cy="559600"/>
            <a:chOff x="-139125" y="3868275"/>
            <a:chExt cx="9194843" cy="559600"/>
          </a:xfrm>
        </p:grpSpPr>
        <p:sp>
          <p:nvSpPr>
            <p:cNvPr id="401" name="Google Shape;401;p13"/>
            <p:cNvSpPr/>
            <p:nvPr/>
          </p:nvSpPr>
          <p:spPr bwMode="auto">
            <a:xfrm>
              <a:off x="-139125" y="3868275"/>
              <a:ext cx="9194843" cy="351450"/>
            </a:xfrm>
            <a:custGeom>
              <a:avLst/>
              <a:gdLst/>
              <a:ahLst/>
              <a:cxnLst/>
              <a:rect l="l" t="t" r="r" b="b"/>
              <a:pathLst>
                <a:path w="219946" h="14058" extrusionOk="0">
                  <a:moveTo>
                    <a:pt x="0" y="12956"/>
                  </a:moveTo>
                  <a:lnTo>
                    <a:pt x="0" y="14058"/>
                  </a:lnTo>
                  <a:lnTo>
                    <a:pt x="219946" y="1102"/>
                  </a:lnTo>
                  <a:lnTo>
                    <a:pt x="2199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 bwMode="auto">
            <a:xfrm>
              <a:off x="125427" y="41828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 bwMode="auto">
            <a:xfrm>
              <a:off x="336927" y="4176300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 bwMode="auto">
            <a:xfrm>
              <a:off x="548427" y="41693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 bwMode="auto">
            <a:xfrm>
              <a:off x="759174" y="4162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 bwMode="auto">
            <a:xfrm>
              <a:off x="970673" y="4155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 bwMode="auto">
            <a:xfrm>
              <a:off x="1182173" y="414877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1" y="9782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 bwMode="auto">
            <a:xfrm>
              <a:off x="1393673" y="4141774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 bwMode="auto">
            <a:xfrm>
              <a:off x="1605172" y="4134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 bwMode="auto">
            <a:xfrm>
              <a:off x="1816672" y="4127775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 bwMode="auto">
            <a:xfrm>
              <a:off x="2027377" y="41212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 bwMode="auto">
            <a:xfrm>
              <a:off x="2238877" y="4114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 bwMode="auto">
            <a:xfrm>
              <a:off x="2450377" y="4107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 bwMode="auto">
            <a:xfrm>
              <a:off x="2661876" y="4100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 bwMode="auto">
            <a:xfrm>
              <a:off x="2873376" y="40937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 bwMode="auto">
            <a:xfrm>
              <a:off x="3084876" y="4086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 bwMode="auto">
            <a:xfrm>
              <a:off x="3296375" y="4079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 bwMode="auto">
            <a:xfrm>
              <a:off x="3507081" y="4072700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 bwMode="auto">
            <a:xfrm>
              <a:off x="3718580" y="4066175"/>
              <a:ext cx="34406" cy="244550"/>
            </a:xfrm>
            <a:custGeom>
              <a:avLst/>
              <a:gdLst/>
              <a:ahLst/>
              <a:cxnLst/>
              <a:rect l="l" t="t" r="r" b="b"/>
              <a:pathLst>
                <a:path w="823" h="9782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 bwMode="auto">
            <a:xfrm>
              <a:off x="3930080" y="4059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 bwMode="auto">
            <a:xfrm>
              <a:off x="4141580" y="4052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2" name="Google Shape;422;p13"/>
            <p:cNvSpPr/>
            <p:nvPr/>
          </p:nvSpPr>
          <p:spPr bwMode="auto">
            <a:xfrm>
              <a:off x="4353079" y="4045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3" name="Google Shape;423;p13"/>
            <p:cNvSpPr/>
            <p:nvPr/>
          </p:nvSpPr>
          <p:spPr bwMode="auto">
            <a:xfrm>
              <a:off x="4564579" y="4038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4" name="Google Shape;424;p13"/>
            <p:cNvSpPr/>
            <p:nvPr/>
          </p:nvSpPr>
          <p:spPr bwMode="auto">
            <a:xfrm>
              <a:off x="4775326" y="4031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5" name="Google Shape;425;p13"/>
            <p:cNvSpPr/>
            <p:nvPr/>
          </p:nvSpPr>
          <p:spPr bwMode="auto">
            <a:xfrm>
              <a:off x="4986826" y="4024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6" name="Google Shape;426;p13"/>
            <p:cNvSpPr/>
            <p:nvPr/>
          </p:nvSpPr>
          <p:spPr bwMode="auto">
            <a:xfrm>
              <a:off x="5198325" y="40181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7" name="Google Shape;427;p13"/>
            <p:cNvSpPr/>
            <p:nvPr/>
          </p:nvSpPr>
          <p:spPr bwMode="auto">
            <a:xfrm>
              <a:off x="5409825" y="4011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8" name="Google Shape;428;p13"/>
            <p:cNvSpPr/>
            <p:nvPr/>
          </p:nvSpPr>
          <p:spPr bwMode="auto">
            <a:xfrm>
              <a:off x="5621325" y="4004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9" name="Google Shape;429;p13"/>
            <p:cNvSpPr/>
            <p:nvPr/>
          </p:nvSpPr>
          <p:spPr bwMode="auto">
            <a:xfrm>
              <a:off x="5832824" y="3997100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 bwMode="auto">
            <a:xfrm>
              <a:off x="6043530" y="399055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 bwMode="auto">
            <a:xfrm>
              <a:off x="6255029" y="3983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 bwMode="auto">
            <a:xfrm>
              <a:off x="6466529" y="3976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 bwMode="auto">
            <a:xfrm>
              <a:off x="6678029" y="3969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 bwMode="auto">
            <a:xfrm>
              <a:off x="6889528" y="39630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5" name="Google Shape;435;p13"/>
            <p:cNvSpPr/>
            <p:nvPr/>
          </p:nvSpPr>
          <p:spPr bwMode="auto">
            <a:xfrm>
              <a:off x="7101028" y="395602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6" name="Google Shape;436;p13"/>
            <p:cNvSpPr/>
            <p:nvPr/>
          </p:nvSpPr>
          <p:spPr bwMode="auto">
            <a:xfrm>
              <a:off x="7311733" y="39490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7" name="Google Shape;437;p13"/>
            <p:cNvSpPr/>
            <p:nvPr/>
          </p:nvSpPr>
          <p:spPr bwMode="auto">
            <a:xfrm>
              <a:off x="7523233" y="3942025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 bwMode="auto">
            <a:xfrm>
              <a:off x="7734733" y="3935475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 bwMode="auto">
            <a:xfrm>
              <a:off x="7946232" y="3928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 bwMode="auto">
            <a:xfrm>
              <a:off x="8157732" y="3921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 bwMode="auto">
            <a:xfrm>
              <a:off x="8369232" y="391447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2"/>
                  </a:moveTo>
                  <a:lnTo>
                    <a:pt x="804" y="9802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 bwMode="auto">
            <a:xfrm>
              <a:off x="8580773" y="3907949"/>
              <a:ext cx="33569" cy="244575"/>
            </a:xfrm>
            <a:custGeom>
              <a:avLst/>
              <a:gdLst/>
              <a:ahLst/>
              <a:cxnLst/>
              <a:rect l="l" t="t" r="r" b="b"/>
              <a:pathLst>
                <a:path w="803" h="9783" extrusionOk="0">
                  <a:moveTo>
                    <a:pt x="0" y="9783"/>
                  </a:moveTo>
                  <a:lnTo>
                    <a:pt x="803" y="9783"/>
                  </a:lnTo>
                  <a:lnTo>
                    <a:pt x="80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 bwMode="auto">
            <a:xfrm>
              <a:off x="8791478" y="39009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603616212" name="Google Shape;444;p13"/>
          <p:cNvSpPr/>
          <p:nvPr/>
        </p:nvSpPr>
        <p:spPr bwMode="auto">
          <a:xfrm>
            <a:off x="5304437" y="4971650"/>
            <a:ext cx="382725" cy="250175"/>
          </a:xfrm>
          <a:custGeom>
            <a:avLst/>
            <a:gdLst/>
            <a:ahLst/>
            <a:cxnLst/>
            <a:rect l="l" t="t" r="r" b="b"/>
            <a:pathLst>
              <a:path w="15309" h="10007" extrusionOk="0">
                <a:moveTo>
                  <a:pt x="1905" y="7374"/>
                </a:moveTo>
                <a:cubicBezTo>
                  <a:pt x="225" y="5843"/>
                  <a:pt x="1" y="10006"/>
                  <a:pt x="1" y="10006"/>
                </a:cubicBezTo>
                <a:lnTo>
                  <a:pt x="1" y="10006"/>
                </a:lnTo>
                <a:lnTo>
                  <a:pt x="14823" y="9764"/>
                </a:lnTo>
                <a:cubicBezTo>
                  <a:pt x="14823" y="9764"/>
                  <a:pt x="15308" y="6217"/>
                  <a:pt x="14394" y="7188"/>
                </a:cubicBezTo>
                <a:lnTo>
                  <a:pt x="14394" y="7188"/>
                </a:lnTo>
                <a:cubicBezTo>
                  <a:pt x="13498" y="8158"/>
                  <a:pt x="13031" y="8289"/>
                  <a:pt x="13031" y="6067"/>
                </a:cubicBezTo>
                <a:lnTo>
                  <a:pt x="13031" y="6067"/>
                </a:lnTo>
                <a:cubicBezTo>
                  <a:pt x="13031" y="3865"/>
                  <a:pt x="11482" y="4163"/>
                  <a:pt x="10641" y="5694"/>
                </a:cubicBezTo>
                <a:lnTo>
                  <a:pt x="10641" y="5694"/>
                </a:lnTo>
                <a:cubicBezTo>
                  <a:pt x="9783" y="7225"/>
                  <a:pt x="11071" y="3286"/>
                  <a:pt x="9129" y="2558"/>
                </a:cubicBezTo>
                <a:lnTo>
                  <a:pt x="9129" y="2558"/>
                </a:lnTo>
                <a:cubicBezTo>
                  <a:pt x="7076" y="1792"/>
                  <a:pt x="7300" y="5955"/>
                  <a:pt x="6609" y="6067"/>
                </a:cubicBezTo>
                <a:lnTo>
                  <a:pt x="6609" y="6067"/>
                </a:lnTo>
                <a:cubicBezTo>
                  <a:pt x="4836" y="6385"/>
                  <a:pt x="8681" y="0"/>
                  <a:pt x="4574" y="0"/>
                </a:cubicBezTo>
                <a:lnTo>
                  <a:pt x="4574" y="0"/>
                </a:lnTo>
                <a:cubicBezTo>
                  <a:pt x="1588" y="0"/>
                  <a:pt x="3566" y="8924"/>
                  <a:pt x="1905" y="7374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102480166" name="Google Shape;445;p13"/>
          <p:cNvGrpSpPr/>
          <p:nvPr/>
        </p:nvGrpSpPr>
        <p:grpSpPr bwMode="auto">
          <a:xfrm>
            <a:off x="-83800" y="4015425"/>
            <a:ext cx="9221236" cy="1251522"/>
            <a:chOff x="-83800" y="4015425"/>
            <a:chExt cx="9221236" cy="1251522"/>
          </a:xfrm>
        </p:grpSpPr>
        <p:sp>
          <p:nvSpPr>
            <p:cNvPr id="446" name="Google Shape;446;p13"/>
            <p:cNvSpPr/>
            <p:nvPr/>
          </p:nvSpPr>
          <p:spPr bwMode="auto">
            <a:xfrm>
              <a:off x="-83800" y="4015425"/>
              <a:ext cx="9221236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447" name="Google Shape;447;p13"/>
            <p:cNvGrpSpPr/>
            <p:nvPr/>
          </p:nvGrpSpPr>
          <p:grpSpPr bwMode="auto">
            <a:xfrm>
              <a:off x="3379075" y="4293100"/>
              <a:ext cx="3484400" cy="973847"/>
              <a:chOff x="3379075" y="4293100"/>
              <a:chExt cx="3484400" cy="973847"/>
            </a:xfrm>
          </p:grpSpPr>
          <p:sp>
            <p:nvSpPr>
              <p:cNvPr id="448" name="Google Shape;448;p13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9" name="Google Shape;449;p13"/>
              <p:cNvSpPr/>
              <p:nvPr/>
            </p:nvSpPr>
            <p:spPr bwMode="auto">
              <a:xfrm>
                <a:off x="5628575" y="42931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0" name="Google Shape;450;p13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1" name="Google Shape;451;p13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2" name="Google Shape;452;p13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3" name="Google Shape;453;p13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4" name="Google Shape;454;p13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 3" userDrawn="1">
  <p:cSld name="TITLE_ONLY_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476014" name="Google Shape;496;p16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80688009" name="Google Shape;497;p16"/>
          <p:cNvSpPr/>
          <p:nvPr/>
        </p:nvSpPr>
        <p:spPr bwMode="auto"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2833363" name="Google Shape;498;p16"/>
          <p:cNvSpPr/>
          <p:nvPr/>
        </p:nvSpPr>
        <p:spPr bwMode="auto"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32477888" name="Google Shape;499;p16"/>
          <p:cNvSpPr/>
          <p:nvPr/>
        </p:nvSpPr>
        <p:spPr bwMode="auto"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95657882" name="Google Shape;500;p16"/>
          <p:cNvGrpSpPr/>
          <p:nvPr/>
        </p:nvGrpSpPr>
        <p:grpSpPr bwMode="auto">
          <a:xfrm>
            <a:off x="-2311315" y="4713377"/>
            <a:ext cx="11543197" cy="859072"/>
            <a:chOff x="238675" y="2497700"/>
            <a:chExt cx="7138649" cy="531275"/>
          </a:xfrm>
        </p:grpSpPr>
        <p:sp>
          <p:nvSpPr>
            <p:cNvPr id="501" name="Google Shape;501;p16"/>
            <p:cNvSpPr/>
            <p:nvPr/>
          </p:nvSpPr>
          <p:spPr bwMode="auto">
            <a:xfrm>
              <a:off x="238675" y="2497700"/>
              <a:ext cx="7138649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 bwMode="auto">
            <a:xfrm>
              <a:off x="238675" y="2565600"/>
              <a:ext cx="7138649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85328703" name="Google Shape;503;p16"/>
          <p:cNvSpPr/>
          <p:nvPr/>
        </p:nvSpPr>
        <p:spPr bwMode="auto"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19270580" name="Google Shape;504;p16"/>
          <p:cNvGrpSpPr/>
          <p:nvPr/>
        </p:nvGrpSpPr>
        <p:grpSpPr bwMode="auto">
          <a:xfrm>
            <a:off x="1058800" y="4136600"/>
            <a:ext cx="2419653" cy="571601"/>
            <a:chOff x="3962175" y="2857795"/>
            <a:chExt cx="3075700" cy="726579"/>
          </a:xfrm>
        </p:grpSpPr>
        <p:sp>
          <p:nvSpPr>
            <p:cNvPr id="505" name="Google Shape;505;p1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hanks" userDrawn="1">
  <p:cSld name="CUSTOM_12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459983" name="Google Shape;944;p24"/>
          <p:cNvSpPr txBox="1">
            <a:spLocks noGrp="1"/>
          </p:cNvSpPr>
          <p:nvPr>
            <p:ph type="subTitle" idx="1"/>
          </p:nvPr>
        </p:nvSpPr>
        <p:spPr bwMode="auto"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550498307" name="Google Shape;945;p24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2929066" name="Google Shape;946;p24"/>
          <p:cNvSpPr/>
          <p:nvPr/>
        </p:nvSpPr>
        <p:spPr bwMode="auto"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0586921" name="Google Shape;947;p24"/>
          <p:cNvSpPr txBox="1"/>
          <p:nvPr/>
        </p:nvSpPr>
        <p:spPr bwMode="auto"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CREDITS: This presentation template was created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including icons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3"/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and infographics &amp; images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4"/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CUSTOM_2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685993" name="Google Shape;949;p25"/>
          <p:cNvSpPr/>
          <p:nvPr/>
        </p:nvSpPr>
        <p:spPr bwMode="auto"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48954825" name="Google Shape;950;p25"/>
          <p:cNvSpPr/>
          <p:nvPr/>
        </p:nvSpPr>
        <p:spPr bwMode="auto"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70387790" name="Google Shape;951;p25"/>
          <p:cNvSpPr/>
          <p:nvPr/>
        </p:nvSpPr>
        <p:spPr bwMode="auto"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5437071" name="Google Shape;952;p25"/>
          <p:cNvSpPr/>
          <p:nvPr/>
        </p:nvSpPr>
        <p:spPr bwMode="auto"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576626748" name="Google Shape;953;p25"/>
          <p:cNvGrpSpPr/>
          <p:nvPr/>
        </p:nvGrpSpPr>
        <p:grpSpPr bwMode="auto">
          <a:xfrm>
            <a:off x="-139347" y="3868275"/>
            <a:ext cx="9276783" cy="1398671"/>
            <a:chOff x="-139347" y="3868275"/>
            <a:chExt cx="9276783" cy="1398671"/>
          </a:xfrm>
        </p:grpSpPr>
        <p:sp>
          <p:nvSpPr>
            <p:cNvPr id="954" name="Google Shape;954;p25"/>
            <p:cNvSpPr/>
            <p:nvPr/>
          </p:nvSpPr>
          <p:spPr bwMode="auto">
            <a:xfrm flipH="1">
              <a:off x="-139347" y="4015425"/>
              <a:ext cx="9276771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 bwMode="auto"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 bwMode="auto">
              <a:xfrm>
                <a:off x="6638024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 bwMode="auto"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 bwMode="auto"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 bwMode="auto"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 bwMode="auto"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 bwMode="auto"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 bwMode="auto"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 bwMode="auto"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 bwMode="auto"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 bwMode="auto">
              <a:xfrm>
                <a:off x="1393673" y="4141774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 bwMode="auto"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 bwMode="auto"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 bwMode="auto"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 bwMode="auto"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 bwMode="auto"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 bwMode="auto"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 bwMode="auto"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 bwMode="auto"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 bwMode="auto"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 bwMode="auto"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 bwMode="auto"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 bwMode="auto"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 bwMode="auto"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 bwMode="auto"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 bwMode="auto"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 bwMode="auto"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 bwMode="auto"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 bwMode="auto"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 bwMode="auto"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 bwMode="auto"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 bwMode="auto"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 bwMode="auto"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 bwMode="auto"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 bwMode="auto"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 bwMode="auto"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 bwMode="auto"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 bwMode="auto"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 bwMode="auto"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 bwMode="auto"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 bwMode="auto"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 bwMode="auto"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 bwMode="auto"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 bwMode="auto"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 bwMode="auto">
              <a:xfrm>
                <a:off x="8580773" y="3907949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 bwMode="auto"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 bwMode="auto"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 bwMode="auto"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 bwMode="auto"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 bwMode="auto"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 bwMode="auto"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 bwMode="auto"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 bwMode="auto"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577232124" name="Google Shape;1022;p25"/>
          <p:cNvGrpSpPr/>
          <p:nvPr/>
        </p:nvGrpSpPr>
        <p:grpSpPr bwMode="auto">
          <a:xfrm rot="127888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049244035" name="Google Shape;1042;p25"/>
          <p:cNvSpPr/>
          <p:nvPr/>
        </p:nvSpPr>
        <p:spPr bwMode="auto"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24669342" name="Google Shape;1043;p25"/>
          <p:cNvSpPr/>
          <p:nvPr/>
        </p:nvSpPr>
        <p:spPr bwMode="auto"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44570" name="Google Shape;1044;p25"/>
          <p:cNvSpPr/>
          <p:nvPr/>
        </p:nvSpPr>
        <p:spPr bwMode="auto"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2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36081" name="Google Shape;1046;p26"/>
          <p:cNvSpPr/>
          <p:nvPr/>
        </p:nvSpPr>
        <p:spPr bwMode="auto"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007538" name="Google Shape;1047;p26"/>
          <p:cNvSpPr/>
          <p:nvPr/>
        </p:nvSpPr>
        <p:spPr bwMode="auto"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04383508" name="Google Shape;1048;p26"/>
          <p:cNvSpPr/>
          <p:nvPr/>
        </p:nvSpPr>
        <p:spPr bwMode="auto"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4679646" name="Google Shape;1049;p26"/>
          <p:cNvSpPr/>
          <p:nvPr/>
        </p:nvSpPr>
        <p:spPr bwMode="auto"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76882811" name="Google Shape;1050;p26"/>
          <p:cNvGrpSpPr/>
          <p:nvPr/>
        </p:nvGrpSpPr>
        <p:grpSpPr bwMode="auto"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465047028" name="Google Shape;1070;p26"/>
          <p:cNvGrpSpPr/>
          <p:nvPr/>
        </p:nvGrpSpPr>
        <p:grpSpPr bwMode="auto"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989754516" name="Google Shape;1084;p26"/>
          <p:cNvSpPr/>
          <p:nvPr/>
        </p:nvSpPr>
        <p:spPr bwMode="auto"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28664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004360747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4285094" name="Google Shape;1095;p30"/>
          <p:cNvSpPr/>
          <p:nvPr/>
        </p:nvSpPr>
        <p:spPr bwMode="auto"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0688363" name="Google Shape;1096;p30"/>
          <p:cNvSpPr/>
          <p:nvPr/>
        </p:nvSpPr>
        <p:spPr bwMode="auto"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48909619" name="Google Shape;1097;p30"/>
          <p:cNvSpPr/>
          <p:nvPr/>
        </p:nvSpPr>
        <p:spPr bwMode="auto"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12875219" name="Google Shape;1098;p30"/>
          <p:cNvGrpSpPr/>
          <p:nvPr/>
        </p:nvGrpSpPr>
        <p:grpSpPr bwMode="auto"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063756107" name="Google Shape;1111;p30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fr-CH" sz="7200" b="1"/>
              <a:t>RailBeat</a:t>
            </a:r>
            <a:r>
              <a:rPr lang="fr-CH" sz="7200"/>
              <a:t> </a:t>
            </a:r>
            <a:endParaRPr sz="71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4500" i="1">
                <a:solidFill>
                  <a:schemeClr val="accent2"/>
                </a:solidFill>
              </a:rPr>
              <a:t>Summer School</a:t>
            </a:r>
            <a:endParaRPr sz="4500" i="1">
              <a:solidFill>
                <a:schemeClr val="accent2"/>
              </a:solidFill>
            </a:endParaRPr>
          </a:p>
        </p:txBody>
      </p:sp>
      <p:sp>
        <p:nvSpPr>
          <p:cNvPr id="1518328010" name="Google Shape;1112;p30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Alan, Dina, Ravaka, Gabriel</a:t>
            </a:r>
            <a:endParaRPr/>
          </a:p>
        </p:txBody>
      </p:sp>
      <p:grpSp>
        <p:nvGrpSpPr>
          <p:cNvPr id="1323589296" name="Google Shape;1113;p30"/>
          <p:cNvGrpSpPr/>
          <p:nvPr/>
        </p:nvGrpSpPr>
        <p:grpSpPr bwMode="auto"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 bwMode="auto"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 bwMode="auto"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323679028" name="Google Shape;1116;p30"/>
          <p:cNvSpPr/>
          <p:nvPr/>
        </p:nvSpPr>
        <p:spPr bwMode="auto"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01648093" name="Google Shape;1117;p30"/>
          <p:cNvGrpSpPr/>
          <p:nvPr/>
        </p:nvGrpSpPr>
        <p:grpSpPr bwMode="auto"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60931447" name="Google Shape;1137;p30"/>
          <p:cNvSpPr/>
          <p:nvPr/>
        </p:nvSpPr>
        <p:spPr bwMode="auto"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82455537" name="Google Shape;1138;p30"/>
          <p:cNvGrpSpPr/>
          <p:nvPr/>
        </p:nvGrpSpPr>
        <p:grpSpPr bwMode="auto"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 bwMode="auto"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 bwMode="auto"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 bwMode="auto"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 bwMode="auto"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455089362" name="Google Shape;1143;p30"/>
          <p:cNvGrpSpPr/>
          <p:nvPr/>
        </p:nvGrpSpPr>
        <p:grpSpPr bwMode="auto"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 bwMode="auto"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 bwMode="auto"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 bwMode="auto"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 bwMode="auto"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 bwMode="auto"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393854943" name="Google Shape;1149;p30"/>
          <p:cNvGrpSpPr/>
          <p:nvPr/>
        </p:nvGrpSpPr>
        <p:grpSpPr bwMode="auto"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964483026" name="Google Shape;1162;p30"/>
          <p:cNvGrpSpPr/>
          <p:nvPr/>
        </p:nvGrpSpPr>
        <p:grpSpPr bwMode="auto"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 bwMode="auto"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 bwMode="auto"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 bwMode="auto"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 bwMode="auto"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165728818" name="Google Shape;1167;p30"/>
          <p:cNvGrpSpPr/>
          <p:nvPr/>
        </p:nvGrpSpPr>
        <p:grpSpPr bwMode="auto"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84411983" name="Google Shape;1174;p30"/>
          <p:cNvSpPr/>
          <p:nvPr/>
        </p:nvSpPr>
        <p:spPr bwMode="auto"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5455459" name="Google Shape;1175;p30"/>
          <p:cNvSpPr/>
          <p:nvPr/>
        </p:nvSpPr>
        <p:spPr bwMode="auto"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143103" name="Google Shape;1176;p30"/>
          <p:cNvSpPr/>
          <p:nvPr/>
        </p:nvSpPr>
        <p:spPr bwMode="auto"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6320664" name="Google Shape;1177;p30"/>
          <p:cNvSpPr/>
          <p:nvPr/>
        </p:nvSpPr>
        <p:spPr bwMode="auto">
          <a:xfrm>
            <a:off x="6525300" y="4846125"/>
            <a:ext cx="824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99628220" name="Google Shape;1178;p30"/>
          <p:cNvSpPr/>
          <p:nvPr/>
        </p:nvSpPr>
        <p:spPr bwMode="auto"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88783533" name="Google Shape;1179;p30"/>
          <p:cNvSpPr/>
          <p:nvPr/>
        </p:nvSpPr>
        <p:spPr bwMode="auto">
          <a:xfrm>
            <a:off x="6530799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60713951" name="Google Shape;1180;p30"/>
          <p:cNvSpPr/>
          <p:nvPr/>
        </p:nvSpPr>
        <p:spPr bwMode="auto"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68034121" name="Google Shape;1181;p30"/>
          <p:cNvGrpSpPr/>
          <p:nvPr/>
        </p:nvGrpSpPr>
        <p:grpSpPr bwMode="auto"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6033115" name="Google Shape;1214;p32"/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76679492" name="Google Shape;1215;p32"/>
          <p:cNvSpPr/>
          <p:nvPr/>
        </p:nvSpPr>
        <p:spPr bwMode="auto">
          <a:xfrm>
            <a:off x="-1637787" y="745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67504747" name="Google Shape;1216;p32"/>
          <p:cNvSpPr txBox="1">
            <a:spLocks noGrp="1"/>
          </p:cNvSpPr>
          <p:nvPr>
            <p:ph type="title" idx="15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Summary</a:t>
            </a:r>
            <a:endParaRPr/>
          </a:p>
        </p:txBody>
      </p:sp>
      <p:sp>
        <p:nvSpPr>
          <p:cNvPr id="1094385928" name="Google Shape;1217;p32"/>
          <p:cNvSpPr txBox="1">
            <a:spLocks noGrp="1"/>
          </p:cNvSpPr>
          <p:nvPr>
            <p:ph type="title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sp>
        <p:nvSpPr>
          <p:cNvPr id="1255792358" name="Google Shape;1218;p32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33956"/>
            <a:ext cx="1938300" cy="4191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 analysis</a:t>
            </a:r>
            <a:endParaRPr/>
          </a:p>
        </p:txBody>
      </p:sp>
      <p:sp>
        <p:nvSpPr>
          <p:cNvPr id="1047170882" name="Google Shape;1220;p32"/>
          <p:cNvSpPr txBox="1">
            <a:spLocks noGrp="1"/>
          </p:cNvSpPr>
          <p:nvPr>
            <p:ph type="title" idx="3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sp>
        <p:nvSpPr>
          <p:cNvPr id="1603854174" name="Google Shape;1221;p32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 </a:t>
            </a:r>
            <a:endParaRPr/>
          </a:p>
        </p:txBody>
      </p:sp>
      <p:sp>
        <p:nvSpPr>
          <p:cNvPr id="2001543015" name="Google Shape;1223;p32"/>
          <p:cNvSpPr txBox="1">
            <a:spLocks noGrp="1"/>
          </p:cNvSpPr>
          <p:nvPr>
            <p:ph type="title" idx="6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03</a:t>
            </a:r>
            <a:endParaRPr/>
          </a:p>
        </p:txBody>
      </p:sp>
      <p:sp>
        <p:nvSpPr>
          <p:cNvPr id="1053796061" name="Google Shape;1224;p32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78163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Showcase </a:t>
            </a:r>
            <a:endParaRPr/>
          </a:p>
        </p:txBody>
      </p:sp>
      <p:sp>
        <p:nvSpPr>
          <p:cNvPr id="2067234354" name="Google Shape;1226;p32"/>
          <p:cNvSpPr txBox="1">
            <a:spLocks noGrp="1"/>
          </p:cNvSpPr>
          <p:nvPr>
            <p:ph type="title" idx="9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sp>
        <p:nvSpPr>
          <p:cNvPr id="1015700547" name="Google Shape;1227;p32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89487"/>
            <a:ext cx="228885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CA"/>
              <a:t>Contrast with plan</a:t>
            </a:r>
            <a:endParaRPr/>
          </a:p>
        </p:txBody>
      </p:sp>
      <p:sp>
        <p:nvSpPr>
          <p:cNvPr id="1936620141" name="Google Shape;1229;p32"/>
          <p:cNvSpPr/>
          <p:nvPr/>
        </p:nvSpPr>
        <p:spPr bwMode="auto">
          <a:xfrm>
            <a:off x="6638024" y="5131575"/>
            <a:ext cx="225450" cy="266525"/>
          </a:xfrm>
          <a:custGeom>
            <a:avLst/>
            <a:gdLst/>
            <a:ahLst/>
            <a:cxnLst/>
            <a:rect l="l" t="t" r="r" b="b"/>
            <a:pathLst>
              <a:path w="9018" h="10661" extrusionOk="0">
                <a:moveTo>
                  <a:pt x="1" y="10660"/>
                </a:moveTo>
                <a:lnTo>
                  <a:pt x="9017" y="10660"/>
                </a:lnTo>
                <a:lnTo>
                  <a:pt x="9017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7153440" name="Google Shape;1230;p32"/>
          <p:cNvSpPr/>
          <p:nvPr/>
        </p:nvSpPr>
        <p:spPr bwMode="auto">
          <a:xfrm>
            <a:off x="6709900" y="4473175"/>
            <a:ext cx="72825" cy="792553"/>
          </a:xfrm>
          <a:custGeom>
            <a:avLst/>
            <a:gdLst/>
            <a:ahLst/>
            <a:cxnLst/>
            <a:rect l="l" t="t" r="r" b="b"/>
            <a:pathLst>
              <a:path w="2913" h="48780" extrusionOk="0">
                <a:moveTo>
                  <a:pt x="1" y="48780"/>
                </a:moveTo>
                <a:lnTo>
                  <a:pt x="2913" y="48780"/>
                </a:lnTo>
                <a:lnTo>
                  <a:pt x="2913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9606703" name="Google Shape;1231;p32"/>
          <p:cNvSpPr/>
          <p:nvPr/>
        </p:nvSpPr>
        <p:spPr bwMode="auto">
          <a:xfrm>
            <a:off x="5855850" y="3492550"/>
            <a:ext cx="3625540" cy="2207975"/>
          </a:xfrm>
          <a:custGeom>
            <a:avLst/>
            <a:gdLst/>
            <a:ahLst/>
            <a:cxnLst/>
            <a:rect l="l" t="t" r="r" b="b"/>
            <a:pathLst>
              <a:path w="102525" h="88319" extrusionOk="0">
                <a:moveTo>
                  <a:pt x="65114" y="10828"/>
                </a:moveTo>
                <a:cubicBezTo>
                  <a:pt x="55668" y="13983"/>
                  <a:pt x="48798" y="13068"/>
                  <a:pt x="45027" y="19826"/>
                </a:cubicBezTo>
                <a:lnTo>
                  <a:pt x="45027" y="19826"/>
                </a:lnTo>
                <a:cubicBezTo>
                  <a:pt x="41256" y="26583"/>
                  <a:pt x="39315" y="30186"/>
                  <a:pt x="32613" y="31549"/>
                </a:cubicBezTo>
                <a:lnTo>
                  <a:pt x="32613" y="31549"/>
                </a:lnTo>
                <a:cubicBezTo>
                  <a:pt x="25930" y="32893"/>
                  <a:pt x="23989" y="35413"/>
                  <a:pt x="19098" y="40678"/>
                </a:cubicBezTo>
                <a:lnTo>
                  <a:pt x="19098" y="40678"/>
                </a:lnTo>
                <a:cubicBezTo>
                  <a:pt x="14207" y="45961"/>
                  <a:pt x="8737" y="50460"/>
                  <a:pt x="8084" y="56321"/>
                </a:cubicBezTo>
                <a:lnTo>
                  <a:pt x="8084" y="56321"/>
                </a:lnTo>
                <a:cubicBezTo>
                  <a:pt x="7449" y="62183"/>
                  <a:pt x="0" y="74355"/>
                  <a:pt x="131" y="78405"/>
                </a:cubicBezTo>
                <a:lnTo>
                  <a:pt x="131" y="78405"/>
                </a:lnTo>
                <a:cubicBezTo>
                  <a:pt x="243" y="82456"/>
                  <a:pt x="3118" y="87422"/>
                  <a:pt x="3118" y="87422"/>
                </a:cubicBezTo>
                <a:lnTo>
                  <a:pt x="3118" y="87422"/>
                </a:lnTo>
                <a:cubicBezTo>
                  <a:pt x="3118" y="87422"/>
                  <a:pt x="21748" y="88318"/>
                  <a:pt x="32613" y="87422"/>
                </a:cubicBezTo>
                <a:lnTo>
                  <a:pt x="32613" y="87422"/>
                </a:lnTo>
                <a:cubicBezTo>
                  <a:pt x="43497" y="86507"/>
                  <a:pt x="46540" y="84715"/>
                  <a:pt x="51318" y="84715"/>
                </a:cubicBezTo>
                <a:lnTo>
                  <a:pt x="51318" y="84715"/>
                </a:lnTo>
                <a:cubicBezTo>
                  <a:pt x="56116" y="84715"/>
                  <a:pt x="63453" y="85611"/>
                  <a:pt x="76688" y="83801"/>
                </a:cubicBezTo>
                <a:lnTo>
                  <a:pt x="76688" y="83801"/>
                </a:lnTo>
                <a:cubicBezTo>
                  <a:pt x="89905" y="82008"/>
                  <a:pt x="102525" y="85163"/>
                  <a:pt x="102525" y="85163"/>
                </a:cubicBezTo>
                <a:lnTo>
                  <a:pt x="102525" y="85163"/>
                </a:lnTo>
                <a:lnTo>
                  <a:pt x="102525" y="0"/>
                </a:lnTo>
                <a:cubicBezTo>
                  <a:pt x="102525" y="0"/>
                  <a:pt x="74560" y="7673"/>
                  <a:pt x="65114" y="10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0403131" name="Google Shape;1232;p32"/>
          <p:cNvSpPr/>
          <p:nvPr/>
        </p:nvSpPr>
        <p:spPr bwMode="auto">
          <a:xfrm>
            <a:off x="6401152" y="3798225"/>
            <a:ext cx="2867400" cy="1881300"/>
          </a:xfrm>
          <a:custGeom>
            <a:avLst/>
            <a:gdLst/>
            <a:ahLst/>
            <a:cxnLst/>
            <a:rect l="l" t="t" r="r" b="b"/>
            <a:pathLst>
              <a:path w="96888" h="75252" extrusionOk="0">
                <a:moveTo>
                  <a:pt x="96887" y="1214"/>
                </a:moveTo>
                <a:cubicBezTo>
                  <a:pt x="96887" y="1214"/>
                  <a:pt x="84809" y="1"/>
                  <a:pt x="53970" y="19173"/>
                </a:cubicBezTo>
                <a:cubicBezTo>
                  <a:pt x="48967" y="22290"/>
                  <a:pt x="34928" y="39670"/>
                  <a:pt x="28992" y="40510"/>
                </a:cubicBezTo>
                <a:cubicBezTo>
                  <a:pt x="23037" y="41350"/>
                  <a:pt x="21301" y="42918"/>
                  <a:pt x="16970" y="46185"/>
                </a:cubicBezTo>
                <a:cubicBezTo>
                  <a:pt x="12620" y="49471"/>
                  <a:pt x="7748" y="52271"/>
                  <a:pt x="7188" y="55930"/>
                </a:cubicBezTo>
                <a:cubicBezTo>
                  <a:pt x="6628" y="59570"/>
                  <a:pt x="1" y="67131"/>
                  <a:pt x="113" y="69651"/>
                </a:cubicBezTo>
                <a:cubicBezTo>
                  <a:pt x="206" y="72171"/>
                  <a:pt x="2763" y="75251"/>
                  <a:pt x="2763" y="75251"/>
                </a:cubicBezTo>
                <a:cubicBezTo>
                  <a:pt x="2763" y="75251"/>
                  <a:pt x="41350" y="73571"/>
                  <a:pt x="45606" y="73571"/>
                </a:cubicBezTo>
                <a:cubicBezTo>
                  <a:pt x="49863" y="73571"/>
                  <a:pt x="56396" y="74131"/>
                  <a:pt x="68139" y="73011"/>
                </a:cubicBezTo>
                <a:cubicBezTo>
                  <a:pt x="79899" y="71891"/>
                  <a:pt x="91119" y="73851"/>
                  <a:pt x="91119" y="7385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52566719" name="Google Shape;1233;p32"/>
          <p:cNvSpPr/>
          <p:nvPr/>
        </p:nvSpPr>
        <p:spPr bwMode="auto">
          <a:xfrm>
            <a:off x="5687175" y="24049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333231128" name="Google Shape;1234;p32"/>
          <p:cNvGrpSpPr/>
          <p:nvPr/>
        </p:nvGrpSpPr>
        <p:grpSpPr bwMode="auto">
          <a:xfrm>
            <a:off x="7697498" y="2089814"/>
            <a:ext cx="2353043" cy="3308282"/>
            <a:chOff x="6522575" y="4082000"/>
            <a:chExt cx="724950" cy="1019250"/>
          </a:xfrm>
        </p:grpSpPr>
        <p:sp>
          <p:nvSpPr>
            <p:cNvPr id="1235" name="Google Shape;1235;p32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236" name="Google Shape;1236;p32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237" name="Google Shape;1237;p32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8" name="Google Shape;1238;p32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9" name="Google Shape;1239;p32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40" name="Google Shape;1240;p32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58620984" name="Google Shape;1241;p32"/>
          <p:cNvSpPr/>
          <p:nvPr/>
        </p:nvSpPr>
        <p:spPr bwMode="auto">
          <a:xfrm rot="-2231248" flipH="1">
            <a:off x="64949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3846706" name="Google Shape;1242;p32"/>
          <p:cNvSpPr/>
          <p:nvPr/>
        </p:nvSpPr>
        <p:spPr bwMode="auto">
          <a:xfrm rot="-2231248" flipH="1">
            <a:off x="7607768" y="1488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748626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5117637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44765605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011003978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835487437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519057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</a:t>
            </a:r>
            <a:br>
              <a:rPr lang="en"/>
            </a:br>
            <a:r>
              <a:rPr lang="en"/>
              <a:t>analysis</a:t>
            </a:r>
            <a:endParaRPr i="1"/>
          </a:p>
        </p:txBody>
      </p:sp>
      <p:sp>
        <p:nvSpPr>
          <p:cNvPr id="138323106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5" y="686500"/>
            <a:ext cx="1303200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grpSp>
        <p:nvGrpSpPr>
          <p:cNvPr id="1503375970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372162643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492650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13265564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9138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34756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6155538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2062282137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2373431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Music file to Midi</a:t>
            </a:r>
          </a:p>
          <a:p>
            <a:pPr marL="0" indent="0">
              <a:defRPr/>
            </a:pPr>
            <a:r>
              <a:rPr lang="fr-FR" sz="2400" b="1" i="1"/>
              <a:t>Algorithms</a:t>
            </a:r>
            <a:endParaRPr lang="en" sz="2400" b="1" i="1"/>
          </a:p>
        </p:txBody>
      </p:sp>
      <p:sp>
        <p:nvSpPr>
          <p:cNvPr id="2015357091" name="ZoneTexte 2015357090"/>
          <p:cNvSpPr txBox="1"/>
          <p:nvPr/>
        </p:nvSpPr>
        <p:spPr bwMode="auto">
          <a:xfrm>
            <a:off x="2591039" y="1840786"/>
            <a:ext cx="5983275" cy="1310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r>
              <a:rPr sz="2000" b="1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STFT</a:t>
            </a:r>
            <a:r>
              <a:rPr sz="2000" b="0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 = "Where is the energy in the frequency domain?"</a:t>
            </a:r>
            <a:endParaRPr sz="220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r>
              <a:rPr sz="2000" b="0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 = "Which musical notes are present?"</a:t>
            </a:r>
            <a:endParaRPr sz="220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YIN</a:t>
            </a:r>
            <a:r>
              <a:rPr sz="2000" b="0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 = "What is the pitch of this single sound?"</a:t>
            </a:r>
            <a:endParaRPr sz="2200">
              <a:solidFill>
                <a:schemeClr val="tx1"/>
              </a:solidFill>
              <a:latin typeface="Abel"/>
              <a:cs typeface="Abel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sz="2000" b="1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pYIN</a:t>
            </a:r>
            <a:r>
              <a:rPr sz="2000" b="0" i="0" u="none">
                <a:solidFill>
                  <a:schemeClr val="tx1"/>
                </a:solidFill>
                <a:latin typeface="Abel"/>
                <a:ea typeface="Abel"/>
                <a:cs typeface="Abel"/>
              </a:rPr>
              <a:t> = "YIN, but with fewer mistakes."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677599" name="Google Shape;1247;p33"/>
          <p:cNvSpPr/>
          <p:nvPr/>
        </p:nvSpPr>
        <p:spPr bwMode="auto">
          <a:xfrm>
            <a:off x="-1682886" y="1208937"/>
            <a:ext cx="10828624" cy="1112949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96928790" name="Google Shape;1248;p33"/>
          <p:cNvSpPr/>
          <p:nvPr/>
        </p:nvSpPr>
        <p:spPr bwMode="auto">
          <a:xfrm>
            <a:off x="124024" y="580324"/>
            <a:ext cx="2262174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03444643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89" y="295287"/>
            <a:ext cx="5908962" cy="872246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632365674" name="Google Shape;1251;p33"/>
          <p:cNvSpPr/>
          <p:nvPr/>
        </p:nvSpPr>
        <p:spPr bwMode="auto">
          <a:xfrm rot="-2231248" flipH="1">
            <a:off x="3001542" y="964959"/>
            <a:ext cx="240402" cy="114378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8278155" name="Google Shape;1250;p33"/>
          <p:cNvSpPr txBox="1"/>
          <p:nvPr/>
        </p:nvSpPr>
        <p:spPr bwMode="auto">
          <a:xfrm>
            <a:off x="614730" y="981117"/>
            <a:ext cx="2448126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Music file to Midi</a:t>
            </a:r>
          </a:p>
          <a:p>
            <a:pPr marL="0" indent="0">
              <a:defRPr/>
            </a:pPr>
            <a:r>
              <a:rPr lang="fr-FR" sz="2400" b="1" i="1"/>
              <a:t>Algorithms</a:t>
            </a:r>
            <a:endParaRPr lang="en" sz="2400" b="1" i="1"/>
          </a:p>
        </p:txBody>
      </p:sp>
      <p:pic>
        <p:nvPicPr>
          <p:cNvPr id="1811285758" name="Image 181128575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789079" y="580324"/>
            <a:ext cx="3254319" cy="2440739"/>
          </a:xfrm>
          <a:prstGeom prst="rect">
            <a:avLst/>
          </a:prstGeom>
        </p:spPr>
      </p:pic>
      <p:pic>
        <p:nvPicPr>
          <p:cNvPr id="1522081535" name="Image 1522081534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823117" y="3107148"/>
            <a:ext cx="3220280" cy="2415210"/>
          </a:xfrm>
          <a:prstGeom prst="rect">
            <a:avLst/>
          </a:prstGeom>
        </p:spPr>
      </p:pic>
      <p:pic>
        <p:nvPicPr>
          <p:cNvPr id="1535073880" name="Image 1535073879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2743472" y="1234821"/>
            <a:ext cx="2935833" cy="2201875"/>
          </a:xfrm>
          <a:prstGeom prst="rect">
            <a:avLst/>
          </a:prstGeom>
        </p:spPr>
      </p:pic>
      <p:pic>
        <p:nvPicPr>
          <p:cNvPr id="1200018018" name="Image 1200018017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277956" y="2998257"/>
            <a:ext cx="2843787" cy="2132840"/>
          </a:xfrm>
          <a:prstGeom prst="rect">
            <a:avLst/>
          </a:prstGeom>
        </p:spPr>
      </p:pic>
      <p:sp>
        <p:nvSpPr>
          <p:cNvPr id="1332855207" name="ZoneTexte 1332855206"/>
          <p:cNvSpPr txBox="1"/>
          <p:nvPr/>
        </p:nvSpPr>
        <p:spPr bwMode="auto">
          <a:xfrm>
            <a:off x="614730" y="2662616"/>
            <a:ext cx="98712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063071052" name="ZoneTexte 1063071051"/>
          <p:cNvSpPr txBox="1"/>
          <p:nvPr/>
        </p:nvSpPr>
        <p:spPr bwMode="auto">
          <a:xfrm>
            <a:off x="3817043" y="3436697"/>
            <a:ext cx="99000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S</a:t>
            </a:r>
            <a:r>
              <a:rPr lang="fr-FR" sz="1600" b="1">
                <a:solidFill>
                  <a:schemeClr val="tx1"/>
                </a:solidFill>
                <a:latin typeface="Abel"/>
                <a:cs typeface="Abel"/>
              </a:rPr>
              <a:t>TFT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168414805" name="ZoneTexte 1168414804"/>
          <p:cNvSpPr txBox="1"/>
          <p:nvPr/>
        </p:nvSpPr>
        <p:spPr bwMode="auto">
          <a:xfrm>
            <a:off x="7190819" y="244684"/>
            <a:ext cx="99288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YIN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sp>
        <p:nvSpPr>
          <p:cNvPr id="1405376363" name="ZoneTexte 1405376362"/>
          <p:cNvSpPr txBox="1"/>
          <p:nvPr/>
        </p:nvSpPr>
        <p:spPr bwMode="auto">
          <a:xfrm>
            <a:off x="5292636" y="4908926"/>
            <a:ext cx="993245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 sz="1600" b="1">
                <a:solidFill>
                  <a:schemeClr val="tx1"/>
                </a:solidFill>
                <a:latin typeface="Abel"/>
                <a:ea typeface="Abel"/>
                <a:cs typeface="Abel"/>
              </a:rPr>
              <a:t>PYIN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249087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20474041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8938965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013910783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1 bin CQT = 1 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halftone </a:t>
            </a: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= 1 MIDI 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note if</a:t>
            </a:r>
            <a:r>
              <a:rPr lang="en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</a:t>
            </a:r>
            <a:r>
              <a:rPr lang="en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bins_per_octave=12</a:t>
            </a:r>
            <a:r>
              <a:rPr lang="fr-FR" b="1"/>
              <a:t> </a:t>
            </a:r>
            <a:r>
              <a:rPr lang="fr-FR" b="0"/>
              <a:t>(Default value)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C2 = 65 Hz (fmin)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B8 = 7,9k Hz (fmax)</a:t>
            </a:r>
            <a:endParaRPr b="0"/>
          </a:p>
        </p:txBody>
      </p:sp>
      <p:sp>
        <p:nvSpPr>
          <p:cNvPr id="1201622043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9085469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Manage Hz  ranges from midi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9275065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5238542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06903529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897765824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2699509" y="981117"/>
            <a:ext cx="6446228" cy="2486410"/>
          </a:xfrm>
          <a:prstGeom prst="rect">
            <a:avLst/>
          </a:prstGeom>
        </p:spPr>
        <p:txBody>
          <a:bodyPr spcFirstLastPara="1" vertOverflow="overflow" horzOverflow="overflow" vert="horz" wrap="square" lIns="91424" tIns="91424" rIns="91424" bIns="91424" numCol="2" spcCol="0" rtlCol="0" fromWordArt="0" anchor="t" anchorCtr="0" forceAA="0" compatLnSpc="0">
            <a:noAutofit/>
          </a:bodyPr>
          <a:lstStyle/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Load the audio → mono waveform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Clean it → 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Trim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silence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(-30db)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S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eparate melody from drums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(HPSS)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Find note </a:t>
            </a:r>
            <a:r>
              <a:rPr lang="fr-FR" sz="1500" b="1" i="0" u="none" strike="noStrike" cap="none" spc="0" dirty="0" err="1">
                <a:solidFill>
                  <a:schemeClr val="dk1"/>
                </a:solidFill>
                <a:latin typeface="Abel"/>
                <a:ea typeface="Abel"/>
                <a:cs typeface="Abel"/>
              </a:rPr>
              <a:t>begining</a:t>
            </a: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→ detect onsets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Estimate pitch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	One note </a:t>
            </a: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→ pYIN gives frequency over time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	Several notes → CQT gives energy per semitone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Convert frequency → MIDI note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Cut the timeline into segments using the onsets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For each segment, pick the active note(s) and create a MIDI event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en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Write the .mid file</a:t>
            </a:r>
            <a:endParaRPr sz="1500" b="1" dirty="0"/>
          </a:p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dirty="0"/>
              <a:t>Done !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</p:txBody>
      </p:sp>
      <p:sp>
        <p:nvSpPr>
          <p:cNvPr id="157629922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8204211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Translation process</a:t>
            </a:r>
            <a:endParaRPr lang="en" sz="2400" b="1" i="1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BD600C61-764F-1295-BD00-C22BFB169E1B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91381" name="Google Shape;1247;p33">
            <a:extLst>
              <a:ext uri="{FF2B5EF4-FFF2-40B4-BE49-F238E27FC236}">
                <a16:creationId xmlns:a16="http://schemas.microsoft.com/office/drawing/2014/main" id="{731AB92A-5298-B898-9070-CAADA8027F40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347563" name="Google Shape;1248;p33">
            <a:extLst>
              <a:ext uri="{FF2B5EF4-FFF2-40B4-BE49-F238E27FC236}">
                <a16:creationId xmlns:a16="http://schemas.microsoft.com/office/drawing/2014/main" id="{ACCA685B-6BAD-A1AF-1A60-8540B9679B2B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6155538" name="Google Shape;1249;p33">
            <a:extLst>
              <a:ext uri="{FF2B5EF4-FFF2-40B4-BE49-F238E27FC236}">
                <a16:creationId xmlns:a16="http://schemas.microsoft.com/office/drawing/2014/main" id="{10D9A332-3C7F-FB8E-E3C7-2158338C6CFA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2062282137" name="Google Shape;1251;p33">
            <a:extLst>
              <a:ext uri="{FF2B5EF4-FFF2-40B4-BE49-F238E27FC236}">
                <a16:creationId xmlns:a16="http://schemas.microsoft.com/office/drawing/2014/main" id="{B0E26325-C592-442F-E1B0-2106777DB04B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23734312" name="Google Shape;1250;p33">
            <a:extLst>
              <a:ext uri="{FF2B5EF4-FFF2-40B4-BE49-F238E27FC236}">
                <a16:creationId xmlns:a16="http://schemas.microsoft.com/office/drawing/2014/main" id="{3D24DA4A-1287-28B7-B3C1-11FFCD1B5E97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endParaRPr lang="en" sz="2400" b="1" i="1" dirty="0"/>
          </a:p>
        </p:txBody>
      </p:sp>
      <p:sp>
        <p:nvSpPr>
          <p:cNvPr id="4" name="Google Shape;1250;p33">
            <a:extLst>
              <a:ext uri="{FF2B5EF4-FFF2-40B4-BE49-F238E27FC236}">
                <a16:creationId xmlns:a16="http://schemas.microsoft.com/office/drawing/2014/main" id="{26BE98E1-3857-B430-60B1-5724D3F5355D}"/>
              </a:ext>
            </a:extLst>
          </p:cNvPr>
          <p:cNvSpPr txBox="1"/>
          <p:nvPr/>
        </p:nvSpPr>
        <p:spPr bwMode="auto">
          <a:xfrm>
            <a:off x="297590" y="1022149"/>
            <a:ext cx="3755426" cy="947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Detect note and volume</a:t>
            </a:r>
          </a:p>
        </p:txBody>
      </p:sp>
      <p:sp>
        <p:nvSpPr>
          <p:cNvPr id="6" name="Sous-titre 5">
            <a:extLst>
              <a:ext uri="{FF2B5EF4-FFF2-40B4-BE49-F238E27FC236}">
                <a16:creationId xmlns:a16="http://schemas.microsoft.com/office/drawing/2014/main" id="{7BE266A2-5509-944F-1BF2-6CBF9A2533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1616" y="1821346"/>
            <a:ext cx="4151870" cy="2000534"/>
          </a:xfrm>
        </p:spPr>
        <p:txBody>
          <a:bodyPr/>
          <a:lstStyle/>
          <a:p>
            <a:pPr marL="376150" indent="-261850">
              <a:buFont typeface="Arial"/>
              <a:buChar char="•"/>
              <a:defRPr/>
            </a:pPr>
            <a:r>
              <a:rPr lang="fr-CH" sz="1500" dirty="0" err="1"/>
              <a:t>Load</a:t>
            </a:r>
            <a:r>
              <a:rPr lang="fr-CH" sz="1500" dirty="0"/>
              <a:t> MP3</a:t>
            </a:r>
          </a:p>
          <a:p>
            <a:pPr marL="376150" indent="-261850">
              <a:buFont typeface="Arial"/>
              <a:buChar char="•"/>
              <a:defRPr/>
            </a:pPr>
            <a:r>
              <a:rPr lang="fr-CH" sz="1500" dirty="0" err="1"/>
              <a:t>Extract</a:t>
            </a:r>
            <a:r>
              <a:rPr lang="fr-CH" sz="1500" dirty="0"/>
              <a:t> :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/>
              <a:t>Notes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/>
              <a:t>Volume</a:t>
            </a:r>
          </a:p>
          <a:p>
            <a:pPr marL="857250" lvl="1" indent="-285750" algn="l">
              <a:buFont typeface="Wingdings" panose="05000000000000000000" pitchFamily="2" charset="2"/>
              <a:buChar char="§"/>
              <a:defRPr/>
            </a:pPr>
            <a:r>
              <a:rPr lang="fr-CH" sz="1600" dirty="0" err="1"/>
              <a:t>Onsets</a:t>
            </a:r>
            <a:endParaRPr lang="fr-CH" sz="16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B22C12DD-F12D-FFA9-F36E-1905A777D450}"/>
              </a:ext>
            </a:extLst>
          </p:cNvPr>
          <p:cNvSpPr txBox="1"/>
          <p:nvPr/>
        </p:nvSpPr>
        <p:spPr>
          <a:xfrm>
            <a:off x="4364544" y="1498181"/>
            <a:ext cx="727195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H" sz="1500" b="1" dirty="0"/>
              <a:t>With </a:t>
            </a:r>
            <a:r>
              <a:rPr lang="fr-CH" sz="1500" b="1" dirty="0" err="1"/>
              <a:t>Librosa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220678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1888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3285903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18568932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23587602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84303494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6482046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653058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 i="1"/>
          </a:p>
        </p:txBody>
      </p:sp>
      <p:sp>
        <p:nvSpPr>
          <p:cNvPr id="441673872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grpSp>
        <p:nvGrpSpPr>
          <p:cNvPr id="122460089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415767089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77362715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9920473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3399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921684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742088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356723695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Syncro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Random trains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Can accelerate</a:t>
            </a:r>
            <a:endParaRPr/>
          </a:p>
        </p:txBody>
      </p:sp>
      <p:sp>
        <p:nvSpPr>
          <p:cNvPr id="128914909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3365057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Train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141081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438395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4907873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165322833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9215568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Shapes</a:t>
            </a:r>
          </a:p>
        </p:txBody>
      </p:sp>
      <p:pic>
        <p:nvPicPr>
          <p:cNvPr id="1333251513" name="Image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314063" y="1269456"/>
            <a:ext cx="6092826" cy="2478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5508742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5705179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7129374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187112974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4762886" y="403696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Clouds moving to the right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Based on a circle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Changes due to additions of sinus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</p:txBody>
      </p:sp>
      <p:sp>
        <p:nvSpPr>
          <p:cNvPr id="150853074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5653799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Cloud</a:t>
            </a:r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0529631" name="Google Shape;1250;p33"/>
              <p:cNvSpPr txBox="1"/>
              <p:nvPr/>
            </p:nvSpPr>
            <p:spPr bwMode="auto">
              <a:xfrm>
                <a:off x="4762886" y="1911540"/>
                <a:ext cx="4081944" cy="14929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16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1pPr>
                <a:lvl2pPr marL="914400" marR="0" lvl="1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2pPr>
                <a:lvl3pPr marL="1371600" marR="0" lvl="2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3pPr>
                <a:lvl4pPr marL="1828800" marR="0" lvl="3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4pPr>
                <a:lvl5pPr marL="2286000" marR="0" lvl="4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5pPr>
                <a:lvl6pPr marL="2743200" marR="0" lvl="5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6pPr>
                <a:lvl7pPr marL="3200400" marR="0" lvl="6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7pPr>
                <a:lvl8pPr marL="3657600" marR="0" lvl="7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8pPr>
                <a:lvl9pPr marL="4114800" marR="0" lvl="8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9pPr>
              </a:lstStyle>
              <a:p>
                <a:pPr marL="285750" indent="-285750">
                  <a:buFont typeface="Arial"/>
                  <a:buChar char="•"/>
                  <a:defRPr/>
                </a:pPr>
                <a14:m>
                  <m:oMath xmlns:m="http://schemas.openxmlformats.org/officeDocument/2006/math">
                    <m:r>
                      <a:rPr lang="fr-CH" sz="1400" i="1">
                        <a:latin typeface="Cambria Math"/>
                      </a:rPr>
                      <m:t>𝑟</m:t>
                    </m:r>
                    <m:d>
                      <m:dPr>
                        <m:ctrlPr>
                          <a:rPr lang="fr-CH" sz="1400" i="1">
                            <a:latin typeface="Cambria Math"/>
                          </a:rPr>
                        </m:ctrlPr>
                      </m:dPr>
                      <m:e>
                        <m:r>
                          <a:rPr lang="fr-CH" sz="1400" i="1">
                            <a:latin typeface="Cambria Math"/>
                          </a:rPr>
                          <m:t>𝜃</m:t>
                        </m:r>
                      </m:e>
                    </m:d>
                    <m:r>
                      <a:rPr lang="fr-CH" sz="1400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fr-CH" sz="1400" i="1">
                            <a:latin typeface="Cambria Math"/>
                          </a:rPr>
                        </m:ctrlPr>
                      </m:sSubPr>
                      <m:e>
                        <m:r>
                          <a:rPr lang="fr-CH" sz="1400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m:rPr>
                            <m:nor/>
                          </m:rPr>
                          <a:rPr lang="fr-CH" sz="1400" i="1">
                            <a:latin typeface="Cambria Math"/>
                          </a:rPr>
                          <m:t>base</m:t>
                        </m:r>
                      </m:sub>
                    </m:sSub>
                    <m:r>
                      <a:rPr lang="fr-CH" sz="1400" i="1">
                        <a:latin typeface="Cambria Math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subHide m:val="on"/>
                        <m:supHide m:val="on"/>
                        <m:ctrlPr>
                          <a:rPr lang="fr-CH" sz="1400" i="1"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</m:ctrlPr>
                      </m:naryPr>
                      <m:sub/>
                      <m:sup/>
                      <m:e>
                        <m:d>
                          <m:dPr>
                            <m:ctrlPr>
                              <a:rPr lang="fr-CH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CH" sz="1400" i="1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CH" sz="1400" i="1">
                                    <a:latin typeface="Cambria Math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fr-CH" sz="1400" i="1">
                                    <a:latin typeface="Cambria Math"/>
                                  </a:rPr>
                                  <m:t>base</m:t>
                                </m:r>
                              </m:sub>
                            </m:sSub>
                            <m:r>
                              <a:rPr lang="fr-CH" sz="1400" i="1">
                                <a:latin typeface="Cambria Math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fr-CH" sz="1400" i="1">
                                    <a:latin typeface="Cambria Math"/>
                                  </a:rPr>
                                </m:ctrlPr>
                              </m:sSubPr>
                              <m:e>
                                <m:r>
                                  <a:rPr lang="fr-CH" sz="1400" i="1">
                                    <a:latin typeface="Cambria Math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CH" sz="1400" i="1">
                                    <a:latin typeface="Cambria Math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fr-CH" sz="1400" i="1">
                                <a:latin typeface="Cambria Math"/>
                              </a:rPr>
                              <m:t>⋅</m:t>
                            </m:r>
                            <m:func>
                              <m:funcPr>
                                <m:ctrlPr>
                                  <a:rPr lang="fr-CH" sz="1400" i="1">
                                    <a:latin typeface="Cambria Math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CH" sz="1400" i="1">
                                    <a:latin typeface="Cambria Math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fr-CH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CH" sz="1400" i="1">
                                            <a:latin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CH" sz="1400" i="1">
                                            <a:latin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fr-CH" sz="1400" i="1">
                                            <a:latin typeface="Cambria Math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r>
                                      <a:rPr lang="fr-CH" sz="1400" i="1">
                                        <a:latin typeface="Cambria Math"/>
                                      </a:rPr>
                                      <m:t>⋅</m:t>
                                    </m:r>
                                    <m:r>
                                      <a:rPr lang="fr-CH" sz="1400" i="1">
                                        <a:latin typeface="Cambria Math"/>
                                      </a:rPr>
                                      <m:t>𝜃</m:t>
                                    </m:r>
                                    <m:r>
                                      <a:rPr lang="fr-CH" sz="1400" i="1">
                                        <a:latin typeface="Cambria Math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fr-CH" sz="1400" i="1">
                                            <a:latin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CH" sz="1400" i="1">
                                            <a:latin typeface="Cambria Math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fr-CH" sz="1400" i="1">
                                            <a:latin typeface="Cambria Math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fr-CH" i="1">
                  <a:latin typeface="Cambria Math"/>
                </a:endParaRPr>
              </a:p>
              <a:p>
                <a:pPr marL="285750" indent="-285750">
                  <a:buFont typeface="Arial"/>
                  <a:buChar char="•"/>
                  <a:defRPr/>
                </a:pPr>
                <a:endParaRPr lang="fr-CH" i="1">
                  <a:latin typeface="Cambria Math"/>
                </a:endParaRPr>
              </a:p>
              <a:p>
                <a:pPr marL="285750" indent="-285750">
                  <a:buFont typeface="Arial"/>
                  <a:buChar char="•"/>
                  <a:defRPr/>
                </a:pPr>
                <a:r>
                  <a:rPr lang="fr-CH" i="1">
                    <a:latin typeface="Cambria Math"/>
                  </a:rPr>
                  <a:t>A = Amplitude</a:t>
                </a:r>
                <a:endParaRPr/>
              </a:p>
              <a:p>
                <a:pPr marL="285750" indent="-285750">
                  <a:buFont typeface="Arial"/>
                  <a:buChar char="•"/>
                  <a:defRPr/>
                </a:pPr>
                <a:r>
                  <a:rPr lang="fr-CH" i="1">
                    <a:latin typeface="Cambria Math"/>
                  </a:rPr>
                  <a:t>f = Frequency</a:t>
                </a:r>
                <a:endParaRPr/>
              </a:p>
              <a:p>
                <a:pPr marL="285750" indent="-285750">
                  <a:buFont typeface="Arial"/>
                  <a:buChar char="•"/>
                  <a:defRPr/>
                </a:pPr>
                <a14:m>
                  <m:oMath xmlns:m="http://schemas.openxmlformats.org/officeDocument/2006/math">
                    <m:r>
                      <a:rPr lang="fr-CH" i="1">
                        <a:latin typeface="Cambria Math"/>
                      </a:rPr>
                      <m:t>𝜙</m:t>
                    </m:r>
                  </m:oMath>
                </a14:m>
                <a:r>
                  <a:rPr lang="fr-CH" i="1">
                    <a:latin typeface="Cambria Math"/>
                  </a:rPr>
                  <a:t>= Phase</a:t>
                </a:r>
                <a:endParaRPr/>
              </a:p>
              <a:p>
                <a:pPr marL="0" indent="0">
                  <a:defRPr/>
                </a:pPr>
                <a:r>
                  <a:rPr lang="fr-CH" i="1">
                    <a:latin typeface="Cambria Math"/>
                  </a:rPr>
                  <a:t> returns list of points</a:t>
                </a:r>
                <a:endParaRPr lang="en"/>
              </a:p>
            </p:txBody>
          </p:sp>
        </mc:Choice>
        <mc:Fallback xmlns="">
          <p:sp>
            <p:nvSpPr>
              <p:cNvPr id="750529631" name="Google Shape;1250;p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62886" y="1911540"/>
                <a:ext cx="4081944" cy="1492980"/>
              </a:xfrm>
              <a:prstGeom prst="rect">
                <a:avLst/>
              </a:prstGeom>
              <a:blipFill>
                <a:blip r:embed="rId3"/>
                <a:stretch>
                  <a:fillRect l="-1493" t="-17213" b="-11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07781034" name="Image 6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121744" y="270942"/>
            <a:ext cx="5981074" cy="16308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529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505296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4" dur="indefinite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7" dur="indefinite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1129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75052963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7505296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778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0778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112974" grpId="0" uiExpand="1" build="p"/>
      <p:bldP spid="1187112974" grpId="1" uiExpand="1" build="p"/>
      <p:bldP spid="1187112974" grpId="2" uiExpand="1" build="p"/>
      <p:bldP spid="750529631" grpId="0"/>
      <p:bldP spid="750529631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61528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2777912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397378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54948589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4762886" y="403696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Groupe of triangles (rays)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Random angle of projection and speed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</p:txBody>
      </p:sp>
      <p:sp>
        <p:nvSpPr>
          <p:cNvPr id="1936998779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675443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Fireworks</a:t>
            </a:r>
            <a:endParaRPr/>
          </a:p>
        </p:txBody>
      </p:sp>
      <p:pic>
        <p:nvPicPr>
          <p:cNvPr id="1942153695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4025" y="2196601"/>
            <a:ext cx="5275117" cy="1023341"/>
          </a:xfrm>
          <a:prstGeom prst="rect">
            <a:avLst/>
          </a:prstGeom>
        </p:spPr>
      </p:pic>
      <p:sp>
        <p:nvSpPr>
          <p:cNvPr id="1155203805" name="Flèche : droite 5"/>
          <p:cNvSpPr/>
          <p:nvPr/>
        </p:nvSpPr>
        <p:spPr bwMode="auto">
          <a:xfrm>
            <a:off x="5521923" y="2465955"/>
            <a:ext cx="498764" cy="484632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00477376" name="Google Shape;1250;p33"/>
              <p:cNvSpPr txBox="1"/>
              <p:nvPr/>
            </p:nvSpPr>
            <p:spPr bwMode="auto">
              <a:xfrm>
                <a:off x="6143469" y="2159647"/>
                <a:ext cx="3224645" cy="4250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16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1pPr>
                <a:lvl2pPr marL="914400" marR="0" lvl="1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2pPr>
                <a:lvl3pPr marL="1371600" marR="0" lvl="2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3pPr>
                <a:lvl4pPr marL="1828800" marR="0" lvl="3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4pPr>
                <a:lvl5pPr marL="2286000" marR="0" lvl="4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5pPr>
                <a:lvl6pPr marL="2743200" marR="0" lvl="5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6pPr>
                <a:lvl7pPr marL="3200400" marR="0" lvl="6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7pPr>
                <a:lvl8pPr marL="3657600" marR="0" lvl="7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8pPr>
                <a:lvl9pPr marL="4114800" marR="0" lvl="8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</a:defRPr>
                </a:lvl9pPr>
              </a:lstStyle>
              <a:p>
                <a:pPr marL="0" indent="0">
                  <a:defRPr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>
                          <m:r>
                            <a:rPr lang="fr-CH" i="1">
                              <a:latin typeface="Cambria Math"/>
                            </a:rPr>
                            <m:t>𝑥</m:t>
                          </m:r>
                          <m:d>
                            <m:dPr>
                              <m:ctrlPr>
                                <a:rPr lang="fr-CH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/>
                                </a:rPr>
                                <m:t>𝑡</m:t>
                              </m:r>
                            </m:e>
                          </m:d>
                          <m:r>
                            <a:rPr lang="fr-CH">
                              <a:latin typeface="Cambria Math"/>
                            </a:rPr>
                            <m:t>=</m:t>
                          </m:r>
                          <m:sSub>
                            <m:sSubPr>
                              <m:ctrlPr>
                                <a:rPr lang="fr-CH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CH" i="1">
                                  <a:latin typeface="Cambria Math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CH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fr-CH">
                              <a:latin typeface="Cambria Math"/>
                            </a:rPr>
                            <m:t>+</m:t>
                          </m:r>
                          <m:r>
                            <a:rPr lang="fr-CH" i="1">
                              <a:latin typeface="Cambria Math"/>
                            </a:rPr>
                            <m:t>𝑣</m:t>
                          </m:r>
                          <m:r>
                            <a:rPr lang="fr-CH">
                              <a:latin typeface="Cambria Math"/>
                            </a:rPr>
                            <m:t>⋅</m:t>
                          </m:r>
                          <m:func>
                            <m:funcPr>
                              <m:ctrlPr>
                                <a:rPr lang="fr-CH">
                                  <a:latin typeface="Cambria Math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CH">
                                  <a:latin typeface="Cambria Math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CH" i="1">
                                      <a:latin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fr-CH" i="1">
                                      <a:latin typeface="Cambria Math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lang="fr-CH">
                              <a:latin typeface="Cambria Math"/>
                            </a:rPr>
                            <m:t>⋅</m:t>
                          </m:r>
                          <m:r>
                            <a:rPr lang="fr-CH" i="1">
                              <a:latin typeface="Cambria Math"/>
                            </a:rPr>
                            <m:t>𝑡</m:t>
                          </m:r>
                        </m:oMath>
                      </m:oMathPara>
                    </a14:m>
                  </mc:Choice>
                  <mc:Fallback xmlns:m="http://schemas.openxmlformats.org/officeDocument/2006/math" xmlns:w="http://schemas.openxmlformats.org/wordprocessingml/2006/main" xmlns=""/>
                </mc:AlternateContent>
                <a:endParaRPr lang="fr-CH"/>
              </a:p>
              <a:p>
                <a:pPr marL="0" indent="0">
                  <a:defRPr/>
                </a:pPr>
                <mc:AlternateContent>
                  <mc:Choice Requires="a14"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>
                          <m:r>
                            <a:rPr lang="fr-CH" i="1">
                              <a:latin typeface="Cambria Math"/>
                            </a:rPr>
                            <m:t>𝑦</m:t>
                          </m:r>
                          <m:d>
                            <m:dPr>
                              <m:ctrlPr>
                                <a:rPr lang="fr-CH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/>
                                </a:rPr>
                                <m:t>𝑡</m:t>
                              </m:r>
                            </m:e>
                          </m:d>
                          <m:r>
                            <a:rPr lang="fr-CH">
                              <a:latin typeface="Cambria Math"/>
                            </a:rPr>
                            <m:t>=</m:t>
                          </m:r>
                          <m:sSub>
                            <m:sSubPr>
                              <m:ctrlPr>
                                <a:rPr lang="fr-CH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fr-CH" i="1">
                                  <a:latin typeface="Cambria Math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CH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fr-CH">
                              <a:latin typeface="Cambria Math"/>
                            </a:rPr>
                            <m:t>+</m:t>
                          </m:r>
                          <m:r>
                            <a:rPr lang="fr-CH" i="1">
                              <a:latin typeface="Cambria Math"/>
                            </a:rPr>
                            <m:t>𝑣</m:t>
                          </m:r>
                          <m:r>
                            <a:rPr lang="fr-CH">
                              <a:latin typeface="Cambria Math"/>
                            </a:rPr>
                            <m:t>⋅</m:t>
                          </m:r>
                          <m:func>
                            <m:funcPr>
                              <m:ctrlPr>
                                <a:rPr lang="fr-CH">
                                  <a:latin typeface="Cambria Math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CH">
                                  <a:latin typeface="Cambria Math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fr-CH" i="1">
                                      <a:latin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fr-CH" i="1">
                                      <a:latin typeface="Cambria Math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lang="fr-CH">
                              <a:latin typeface="Cambria Math"/>
                            </a:rPr>
                            <m:t>⋅</m:t>
                          </m:r>
                          <m:r>
                            <a:rPr lang="fr-CH" i="1">
                              <a:latin typeface="Cambria Math"/>
                            </a:rPr>
                            <m:t>𝑡</m:t>
                          </m:r>
                          <m:r>
                            <a:rPr lang="fr-CH">
                              <a:latin typeface="Cambria Math"/>
                            </a:rPr>
                            <m:t>+</m:t>
                          </m:r>
                          <m:f>
                            <m:fPr>
                              <m:ctrlPr>
                                <a:rPr lang="fr-CH">
                                  <a:latin typeface="Cambria Math"/>
                                </a:rPr>
                              </m:ctrlPr>
                            </m:fPr>
                            <m:num>
                              <m:r>
                                <a:rPr lang="fr-CH">
                                  <a:latin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CH"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  <m:r>
                            <a:rPr lang="fr-CH" i="1">
                              <a:latin typeface="Cambria Math"/>
                            </a:rPr>
                            <m:t>𝑔</m:t>
                          </m:r>
                          <m:sSup>
                            <m:sSupPr>
                              <m:ctrlPr>
                                <a:rPr lang="fr-CH" i="1">
                                  <a:latin typeface="Cambria Math"/>
                                </a:rPr>
                              </m:ctrlPr>
                            </m:sSupPr>
                            <m:e>
                              <m:r>
                                <a:rPr lang="fr-CH" i="1">
                                  <a:latin typeface="Cambria Math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fr-CH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oMath>
                      </m:oMathPara>
                    </a14:m>
                  </mc:Choice>
                  <mc:Fallback xmlns:m="http://schemas.openxmlformats.org/officeDocument/2006/math" xmlns:w="http://schemas.openxmlformats.org/wordprocessingml/2006/main" xmlns=""/>
                </mc:AlternateContent>
                <a:endParaRPr lang="fr-CH"/>
              </a:p>
              <a:p>
                <a:pPr marL="0" indent="0">
                  <a:defRPr/>
                </a:pPr>
                <a:r>
                  <a:rPr lang="en-US"/>
                  <a:t>Ballistics</a:t>
                </a:r>
                <a:endParaRPr/>
              </a:p>
            </p:txBody>
          </p:sp>
        </mc:Choice>
        <mc:Fallback xmlns="">
          <p:sp>
            <p:nvSpPr>
              <p:cNvPr id="1900477376" name="Google Shape;1250;p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43469" y="2159647"/>
                <a:ext cx="3224645" cy="425021"/>
              </a:xfrm>
              <a:prstGeom prst="rect">
                <a:avLst/>
              </a:prstGeom>
              <a:blipFill>
                <a:blip r:embed="rId4"/>
                <a:stretch>
                  <a:fillRect l="-1134" b="-17428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CH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549485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549485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2153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42153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5203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"/>
                                        <p:tgtEl>
                                          <p:spTgt spid="11552038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5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04773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19004773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04773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"/>
                                        <p:tgtEl>
                                          <p:spTgt spid="19004773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04773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"/>
                                        <p:tgtEl>
                                          <p:spTgt spid="19004773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948589" grpId="0" uiExpand="1" build="p"/>
      <p:bldP spid="54948589" grpId="1" uiExpand="1" build="p"/>
      <p:bldP spid="1155203805" grpId="0" animBg="1"/>
      <p:bldP spid="1900477376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32152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64461594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68075990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323029026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13839065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5569206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530245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Showcase</a:t>
            </a:r>
            <a:endParaRPr i="1"/>
          </a:p>
        </p:txBody>
      </p:sp>
      <p:sp>
        <p:nvSpPr>
          <p:cNvPr id="181523983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03</a:t>
            </a:r>
            <a:endParaRPr/>
          </a:p>
        </p:txBody>
      </p:sp>
      <p:grpSp>
        <p:nvGrpSpPr>
          <p:cNvPr id="117987136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68701534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548314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6136588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4259547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91236484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868492449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301002553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081158792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43978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607103" y="2530245"/>
            <a:ext cx="449386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Contrast with the plan</a:t>
            </a:r>
            <a:endParaRPr i="1"/>
          </a:p>
        </p:txBody>
      </p:sp>
      <p:sp>
        <p:nvSpPr>
          <p:cNvPr id="1537117866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grpSp>
        <p:nvGrpSpPr>
          <p:cNvPr id="126658900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356328116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2798293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705959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583886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93200460" name="Google Shape;1947;p43"/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Planification - Prototype</a:t>
            </a:r>
            <a:endParaRPr i="1"/>
          </a:p>
        </p:txBody>
      </p:sp>
      <p:sp>
        <p:nvSpPr>
          <p:cNvPr id="1735591311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5732608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976260003" name="Image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26739" y="1468913"/>
            <a:ext cx="5057775" cy="2057400"/>
          </a:xfrm>
          <a:prstGeom prst="rect">
            <a:avLst/>
          </a:prstGeom>
        </p:spPr>
      </p:pic>
      <p:pic>
        <p:nvPicPr>
          <p:cNvPr id="438381855" name="Image 7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340823" y="1487678"/>
            <a:ext cx="3705742" cy="20386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8299051" name="Google Shape;1199;p31"/>
          <p:cNvGrpSpPr/>
          <p:nvPr/>
        </p:nvGrpSpPr>
        <p:grpSpPr bwMode="auto">
          <a:xfrm>
            <a:off x="543463" y="3301326"/>
            <a:ext cx="8057029" cy="1458716"/>
            <a:chOff x="3775764" y="2993756"/>
            <a:chExt cx="3262087" cy="590621"/>
          </a:xfrm>
        </p:grpSpPr>
        <p:sp>
          <p:nvSpPr>
            <p:cNvPr id="1200" name="Google Shape;1200;p31"/>
            <p:cNvSpPr/>
            <p:nvPr/>
          </p:nvSpPr>
          <p:spPr bwMode="auto">
            <a:xfrm>
              <a:off x="3775764" y="3227752"/>
              <a:ext cx="3262087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1" name="Google Shape;1201;p31"/>
            <p:cNvSpPr/>
            <p:nvPr/>
          </p:nvSpPr>
          <p:spPr bwMode="auto">
            <a:xfrm>
              <a:off x="6301551" y="3296687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2" name="Google Shape;1202;p31"/>
            <p:cNvSpPr/>
            <p:nvPr/>
          </p:nvSpPr>
          <p:spPr bwMode="auto">
            <a:xfrm>
              <a:off x="5995216" y="2993756"/>
              <a:ext cx="868577" cy="220668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aphicFrame>
        <p:nvGraphicFramePr>
          <p:cNvPr id="1996668473" name="Google Shape;1203;p31"/>
          <p:cNvGraphicFramePr>
            <a:graphicFrameLocks/>
          </p:cNvGraphicFramePr>
          <p:nvPr/>
        </p:nvGraphicFramePr>
        <p:xfrm>
          <a:off x="727855" y="1684737"/>
          <a:ext cx="6449033" cy="3840300"/>
        </p:xfrm>
        <a:graphic>
          <a:graphicData uri="http://schemas.openxmlformats.org/drawingml/2006/table">
            <a:tbl>
              <a:tblPr>
                <a:tableStyleId>{C546DBDB-1F74-4361-BF75-D81A5296C669}</a:tableStyleId>
              </a:tblPr>
              <a:tblGrid>
                <a:gridCol w="6449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240000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Fix some issues</a:t>
                      </a:r>
                      <a:endParaRPr/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endParaRPr lang="fr-FR"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Detect instruments</a:t>
                      </a:r>
                      <a:endParaRPr/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endParaRPr lang="fr-FR"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  <a:defRPr/>
                      </a:pPr>
                      <a:r>
                        <a:rPr lang="fr-FR" sz="1800" b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</a:rPr>
                        <a:t>Add more animations</a:t>
                      </a:r>
                      <a:endParaRPr/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28575" algn="ctr">
                      <a:solidFill>
                        <a:srgbClr val="B33C3C">
                          <a:alpha val="0"/>
                        </a:srgb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C78D8"/>
                        </a:buClr>
                        <a:buSzPts val="1100"/>
                        <a:buFont typeface="Arial"/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</a:endParaRPr>
                    </a:p>
                  </a:txBody>
                  <a:tcPr marL="91425" marR="91425" marT="91425" marB="91425">
                    <a:lnL w="28575" algn="ctr">
                      <a:solidFill>
                        <a:srgbClr val="B33C3C">
                          <a:alpha val="0"/>
                        </a:srgbClr>
                      </a:solidFill>
                    </a:lnL>
                    <a:lnR w="28575" algn="ctr">
                      <a:solidFill>
                        <a:srgbClr val="B33C3C">
                          <a:alpha val="0"/>
                        </a:srgbClr>
                      </a:solidFill>
                    </a:lnR>
                    <a:lnT w="19050" algn="ctr">
                      <a:solidFill>
                        <a:schemeClr val="accent1">
                          <a:alpha val="0"/>
                        </a:schemeClr>
                      </a:solidFill>
                    </a:lnT>
                    <a:lnB w="19050" algn="ctr">
                      <a:solidFill>
                        <a:schemeClr val="accent1">
                          <a:alpha val="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67071106" name="Google Shape;1206;p31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Contrast with plan</a:t>
            </a:r>
            <a:endParaRPr/>
          </a:p>
        </p:txBody>
      </p:sp>
      <p:sp>
        <p:nvSpPr>
          <p:cNvPr id="511094198" name="Google Shape;1207;p31"/>
          <p:cNvSpPr/>
          <p:nvPr/>
        </p:nvSpPr>
        <p:spPr bwMode="auto">
          <a:xfrm>
            <a:off x="7778250" y="3840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710689" name="Google Shape;1208;p31"/>
          <p:cNvSpPr/>
          <p:nvPr/>
        </p:nvSpPr>
        <p:spPr bwMode="auto">
          <a:xfrm>
            <a:off x="5614225" y="956600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20168605" name="Google Shape;1250;p33"/>
          <p:cNvSpPr txBox="1"/>
          <p:nvPr/>
        </p:nvSpPr>
        <p:spPr bwMode="auto">
          <a:xfrm>
            <a:off x="1419403" y="999505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What’s next?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8516852" name="Google Shape;2299;p49"/>
          <p:cNvSpPr/>
          <p:nvPr/>
        </p:nvSpPr>
        <p:spPr bwMode="auto"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994102507" name="Google Shape;2300;p49"/>
          <p:cNvGrpSpPr/>
          <p:nvPr/>
        </p:nvGrpSpPr>
        <p:grpSpPr bwMode="auto"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 bwMode="auto"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 bwMode="auto"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 bwMode="auto"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 bwMode="auto"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 bwMode="auto"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 bwMode="auto">
              <a:xfrm>
                <a:off x="11075" y="3519300"/>
                <a:ext cx="204649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 bwMode="auto"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 bwMode="auto"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 bwMode="auto">
              <a:xfrm>
                <a:off x="1976050" y="3763800"/>
                <a:ext cx="202399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 bwMode="auto"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 bwMode="auto"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 bwMode="auto"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 bwMode="auto"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 bwMode="auto"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 bwMode="auto"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 bwMode="auto"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 bwMode="auto"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 bwMode="auto"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 bwMode="auto">
            <a:xfrm>
              <a:off x="292425" y="3568199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844542900" name="Google Shape;2320;p49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Thanks!</a:t>
            </a:r>
            <a:endParaRPr/>
          </a:p>
        </p:txBody>
      </p:sp>
      <p:sp>
        <p:nvSpPr>
          <p:cNvPr id="2101354220" name="Google Shape;2322;p49"/>
          <p:cNvSpPr txBox="1"/>
          <p:nvPr/>
        </p:nvSpPr>
        <p:spPr bwMode="auto"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  <p:sp>
        <p:nvSpPr>
          <p:cNvPr id="1526069674" name="Google Shape;2344;p49"/>
          <p:cNvSpPr/>
          <p:nvPr/>
        </p:nvSpPr>
        <p:spPr bwMode="auto"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64176052" name="Google Shape;2345;p49"/>
          <p:cNvSpPr/>
          <p:nvPr/>
        </p:nvSpPr>
        <p:spPr bwMode="auto"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99751154" name="Google Shape;2346;p49"/>
          <p:cNvGrpSpPr/>
          <p:nvPr/>
        </p:nvGrpSpPr>
        <p:grpSpPr bwMode="auto"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 bwMode="auto"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 bwMode="auto">
              <a:xfrm>
                <a:off x="-70375" y="4454000"/>
                <a:ext cx="9237925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 bwMode="auto"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 bwMode="auto"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 bwMode="auto"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 bwMode="auto"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770743235" name="Google Shape;2405;p49"/>
          <p:cNvSpPr/>
          <p:nvPr/>
        </p:nvSpPr>
        <p:spPr bwMode="auto"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18614426" name="Google Shape;2406;p49"/>
          <p:cNvSpPr/>
          <p:nvPr/>
        </p:nvSpPr>
        <p:spPr bwMode="auto"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50378335" name="Google Shape;2407;p49"/>
          <p:cNvSpPr/>
          <p:nvPr/>
        </p:nvSpPr>
        <p:spPr bwMode="auto"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97007612" name="Google Shape;2408;p49"/>
          <p:cNvSpPr/>
          <p:nvPr/>
        </p:nvSpPr>
        <p:spPr bwMode="auto"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335490" name="Google Shape;2409;p49"/>
          <p:cNvSpPr/>
          <p:nvPr/>
        </p:nvSpPr>
        <p:spPr bwMode="auto"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0438091" name="Google Shape;2410;p49"/>
          <p:cNvSpPr/>
          <p:nvPr/>
        </p:nvSpPr>
        <p:spPr bwMode="auto"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706314552" name="Google Shape;2411;p49"/>
          <p:cNvGrpSpPr/>
          <p:nvPr/>
        </p:nvGrpSpPr>
        <p:grpSpPr bwMode="auto">
          <a:xfrm>
            <a:off x="649349" y="4019912"/>
            <a:ext cx="3269776" cy="772427"/>
            <a:chOff x="3962175" y="2857795"/>
            <a:chExt cx="3075700" cy="726579"/>
          </a:xfrm>
        </p:grpSpPr>
        <p:sp>
          <p:nvSpPr>
            <p:cNvPr id="2412" name="Google Shape;2412;p4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2127648457" name="ZoneTexte 1"/>
          <p:cNvSpPr txBox="1"/>
          <p:nvPr/>
        </p:nvSpPr>
        <p:spPr bwMode="auto"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fr-CH" sz="1800" b="1">
                <a:solidFill>
                  <a:schemeClr val="dk1"/>
                </a:solidFill>
                <a:latin typeface="Abel"/>
              </a:rPr>
              <a:t>Do you have questions?</a:t>
            </a:r>
            <a:endParaRPr/>
          </a:p>
        </p:txBody>
      </p:sp>
      <p:pic>
        <p:nvPicPr>
          <p:cNvPr id="1074785379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5400000">
            <a:off x="7086943" y="2202813"/>
            <a:ext cx="355520" cy="44599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606</Words>
  <Application>Microsoft Office PowerPoint</Application>
  <PresentationFormat>Affichage à l'écran (16:9)</PresentationFormat>
  <Paragraphs>118</Paragraphs>
  <Slides>18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5" baseType="lpstr">
      <vt:lpstr>Wingdings</vt:lpstr>
      <vt:lpstr>Arial</vt:lpstr>
      <vt:lpstr>Cambria Math</vt:lpstr>
      <vt:lpstr>Abhaya Libre</vt:lpstr>
      <vt:lpstr>Abel</vt:lpstr>
      <vt:lpstr>Bakbak One</vt:lpstr>
      <vt:lpstr>Railroad Minitheme by Slidesgo</vt:lpstr>
      <vt:lpstr>RailBeat  Summer School</vt:lpstr>
      <vt:lpstr>Summary</vt:lpstr>
      <vt:lpstr>Sounds  analysis</vt:lpstr>
      <vt:lpstr>Sounds analysis</vt:lpstr>
      <vt:lpstr>Sounds analysis</vt:lpstr>
      <vt:lpstr>Sounds analysis</vt:lpstr>
      <vt:lpstr>Sounds analysis</vt:lpstr>
      <vt:lpstr>Sounds analysis</vt:lpstr>
      <vt:lpstr>Animation</vt:lpstr>
      <vt:lpstr>Animation</vt:lpstr>
      <vt:lpstr>Animation</vt:lpstr>
      <vt:lpstr>Animation</vt:lpstr>
      <vt:lpstr>Animation</vt:lpstr>
      <vt:lpstr>Showcase</vt:lpstr>
      <vt:lpstr>Contrast with the plan</vt:lpstr>
      <vt:lpstr>Planification - Prototype</vt:lpstr>
      <vt:lpstr>Contrast with plan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Ravaka Nasandratriniaina ANDRIAMIFIDY</cp:lastModifiedBy>
  <cp:revision>26</cp:revision>
  <dcterms:modified xsi:type="dcterms:W3CDTF">2026-08-20T22:34:20Z</dcterms:modified>
</cp:coreProperties>
</file>